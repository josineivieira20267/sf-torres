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0" r:id="rId1"/>
  </p:sldMasterIdLst>
  <p:notesMasterIdLst>
    <p:notesMasterId r:id="rId18"/>
  </p:notesMasterIdLst>
  <p:sldIdLst>
    <p:sldId id="406" r:id="rId2"/>
    <p:sldId id="402" r:id="rId3"/>
    <p:sldId id="405" r:id="rId4"/>
    <p:sldId id="393" r:id="rId5"/>
    <p:sldId id="395" r:id="rId6"/>
    <p:sldId id="396" r:id="rId7"/>
    <p:sldId id="389" r:id="rId8"/>
    <p:sldId id="404" r:id="rId9"/>
    <p:sldId id="387" r:id="rId10"/>
    <p:sldId id="383" r:id="rId11"/>
    <p:sldId id="381" r:id="rId12"/>
    <p:sldId id="388" r:id="rId13"/>
    <p:sldId id="384" r:id="rId14"/>
    <p:sldId id="372" r:id="rId15"/>
    <p:sldId id="363" r:id="rId16"/>
    <p:sldId id="403" r:id="rId17"/>
  </p:sldIdLst>
  <p:sldSz cx="9906000" cy="6858000" type="A4"/>
  <p:notesSz cx="6888163" cy="100203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50">
          <p15:clr>
            <a:srgbClr val="A4A3A4"/>
          </p15:clr>
        </p15:guide>
        <p15:guide id="2" pos="30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FF0000"/>
    <a:srgbClr val="FF3300"/>
    <a:srgbClr val="0099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4581" autoAdjust="0"/>
    <p:restoredTop sz="92616" autoAdjust="0"/>
  </p:normalViewPr>
  <p:slideViewPr>
    <p:cSldViewPr showGuides="1">
      <p:cViewPr varScale="1">
        <p:scale>
          <a:sx n="111" d="100"/>
          <a:sy n="111" d="100"/>
        </p:scale>
        <p:origin x="1956" y="102"/>
      </p:cViewPr>
      <p:guideLst>
        <p:guide orient="horz" pos="2750"/>
        <p:guide pos="30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F89D304-E100-ACB4-54B4-DF8933E8F9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0063"/>
          </a:xfrm>
          <a:prstGeom prst="rect">
            <a:avLst/>
          </a:prstGeom>
        </p:spPr>
        <p:txBody>
          <a:bodyPr vert="horz" lIns="96606" tIns="48302" rIns="96606" bIns="48302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4E55A9B-5C39-9369-D84A-32123DCFBF8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00488" y="0"/>
            <a:ext cx="2986087" cy="500063"/>
          </a:xfrm>
          <a:prstGeom prst="rect">
            <a:avLst/>
          </a:prstGeom>
        </p:spPr>
        <p:txBody>
          <a:bodyPr vert="horz" lIns="96606" tIns="48302" rIns="96606" bIns="48302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646424DF-C738-400B-A58F-D9D3061575E1}" type="datetimeFigureOut">
              <a:rPr lang="pt-BR"/>
              <a:pPr>
                <a:defRPr/>
              </a:pPr>
              <a:t>08/06/2026</a:t>
            </a:fld>
            <a:endParaRPr lang="pt-BR" dirty="0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82C55202-C252-3C5D-FA60-51D6545466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30250" y="750888"/>
            <a:ext cx="54276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2" rIns="96606" bIns="48302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07EFADB9-C12B-E9C4-1ACC-6009F5785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975" y="4757738"/>
            <a:ext cx="5510213" cy="4511675"/>
          </a:xfrm>
          <a:prstGeom prst="rect">
            <a:avLst/>
          </a:prstGeom>
        </p:spPr>
        <p:txBody>
          <a:bodyPr vert="horz" lIns="96606" tIns="48302" rIns="96606" bIns="48302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824FDB-1D0E-3189-0F16-9B7B85B519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6088" cy="500063"/>
          </a:xfrm>
          <a:prstGeom prst="rect">
            <a:avLst/>
          </a:prstGeom>
        </p:spPr>
        <p:txBody>
          <a:bodyPr vert="horz" lIns="96606" tIns="48302" rIns="96606" bIns="48302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0D188A-93F7-1E93-7CAD-7FDDD214E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00488" y="9518650"/>
            <a:ext cx="2986087" cy="500063"/>
          </a:xfrm>
          <a:prstGeom prst="rect">
            <a:avLst/>
          </a:prstGeom>
        </p:spPr>
        <p:txBody>
          <a:bodyPr vert="horz" wrap="square" lIns="96606" tIns="48302" rIns="96606" bIns="4830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E1FC037-A073-46F0-9AA1-E6DC25F8CA0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Imagem de Slide 1">
            <a:extLst>
              <a:ext uri="{FF2B5EF4-FFF2-40B4-BE49-F238E27FC236}">
                <a16:creationId xmlns:a16="http://schemas.microsoft.com/office/drawing/2014/main" id="{564F9C5D-352D-3F1A-8C4E-97E1E3FB28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5" name="Espaço Reservado para Anotações 2">
            <a:extLst>
              <a:ext uri="{FF2B5EF4-FFF2-40B4-BE49-F238E27FC236}">
                <a16:creationId xmlns:a16="http://schemas.microsoft.com/office/drawing/2014/main" id="{755DD29C-0F4B-9E1B-AA7C-B3FD8A933E1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076" name="Espaço Reservado para Número de Slide 3">
            <a:extLst>
              <a:ext uri="{FF2B5EF4-FFF2-40B4-BE49-F238E27FC236}">
                <a16:creationId xmlns:a16="http://schemas.microsoft.com/office/drawing/2014/main" id="{95078A85-C640-E704-8D6D-F50BEB8EE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4D267B8-DB2F-4163-BD81-A2745B768BF8}" type="slidenum">
              <a:rPr lang="pt-BR" altLang="pt-BR" sz="1300" smtClean="0"/>
              <a:pPr/>
              <a:t>1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Imagem de Slide 1">
            <a:extLst>
              <a:ext uri="{FF2B5EF4-FFF2-40B4-BE49-F238E27FC236}">
                <a16:creationId xmlns:a16="http://schemas.microsoft.com/office/drawing/2014/main" id="{3A82596C-5F28-9065-6E2C-FC7F883EF8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Espaço Reservado para Anotações 2">
            <a:extLst>
              <a:ext uri="{FF2B5EF4-FFF2-40B4-BE49-F238E27FC236}">
                <a16:creationId xmlns:a16="http://schemas.microsoft.com/office/drawing/2014/main" id="{E59E6AAD-2972-139E-8FB3-51B7AABB5A4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124" name="Espaço Reservado para Número de Slide 3">
            <a:extLst>
              <a:ext uri="{FF2B5EF4-FFF2-40B4-BE49-F238E27FC236}">
                <a16:creationId xmlns:a16="http://schemas.microsoft.com/office/drawing/2014/main" id="{0B6B9FB6-8DA8-FC9A-6FD0-91D1A592A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4E27BB4-1527-4353-B77E-CDE7D6469A28}" type="slidenum">
              <a:rPr lang="pt-BR" altLang="pt-BR" sz="1300" smtClean="0">
                <a:solidFill>
                  <a:srgbClr val="000000"/>
                </a:solidFill>
              </a:rPr>
              <a:pPr/>
              <a:t>2</a:t>
            </a:fld>
            <a:endParaRPr lang="pt-BR" altLang="pt-BR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Imagem de Slide 1">
            <a:extLst>
              <a:ext uri="{FF2B5EF4-FFF2-40B4-BE49-F238E27FC236}">
                <a16:creationId xmlns:a16="http://schemas.microsoft.com/office/drawing/2014/main" id="{483292A7-C4F9-27A5-ECDB-15159BCF18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Espaço Reservado para Anotações 2">
            <a:extLst>
              <a:ext uri="{FF2B5EF4-FFF2-40B4-BE49-F238E27FC236}">
                <a16:creationId xmlns:a16="http://schemas.microsoft.com/office/drawing/2014/main" id="{1C99C872-1109-FD6C-2956-0A7B6DB8C0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7172" name="Espaço Reservado para Número de Slide 3">
            <a:extLst>
              <a:ext uri="{FF2B5EF4-FFF2-40B4-BE49-F238E27FC236}">
                <a16:creationId xmlns:a16="http://schemas.microsoft.com/office/drawing/2014/main" id="{438C982E-005F-85EF-74F2-D1E63851C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410F052-D9BD-4086-B7A3-55BA20BF8B54}" type="slidenum">
              <a:rPr lang="pt-BR" altLang="pt-BR" sz="1300" smtClean="0">
                <a:solidFill>
                  <a:srgbClr val="000000"/>
                </a:solidFill>
              </a:rPr>
              <a:pPr/>
              <a:t>3</a:t>
            </a:fld>
            <a:endParaRPr lang="pt-BR" altLang="pt-BR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ço Reservado para Imagem de Slide 1">
            <a:extLst>
              <a:ext uri="{FF2B5EF4-FFF2-40B4-BE49-F238E27FC236}">
                <a16:creationId xmlns:a16="http://schemas.microsoft.com/office/drawing/2014/main" id="{419A5471-309E-B426-F799-A116A96DD2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Espaço Reservado para Anotações 2">
            <a:extLst>
              <a:ext uri="{FF2B5EF4-FFF2-40B4-BE49-F238E27FC236}">
                <a16:creationId xmlns:a16="http://schemas.microsoft.com/office/drawing/2014/main" id="{FBF38133-C4F0-5D55-AD3D-9BC434B11A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9220" name="Espaço Reservado para Número de Slide 3">
            <a:extLst>
              <a:ext uri="{FF2B5EF4-FFF2-40B4-BE49-F238E27FC236}">
                <a16:creationId xmlns:a16="http://schemas.microsoft.com/office/drawing/2014/main" id="{43B04EEC-B8AC-455A-9742-0322CD381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CA6D6F9-6B17-4BE2-86B3-4ED7ABB4E11B}" type="slidenum">
              <a:rPr lang="pt-BR" altLang="pt-BR" sz="1300" smtClean="0">
                <a:solidFill>
                  <a:srgbClr val="000000"/>
                </a:solidFill>
              </a:rPr>
              <a:pPr/>
              <a:t>4</a:t>
            </a:fld>
            <a:endParaRPr lang="pt-BR" altLang="pt-BR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ço Reservado para Imagem de Slide 1">
            <a:extLst>
              <a:ext uri="{FF2B5EF4-FFF2-40B4-BE49-F238E27FC236}">
                <a16:creationId xmlns:a16="http://schemas.microsoft.com/office/drawing/2014/main" id="{5908C1C4-AAC5-CF93-DB7E-56E7AD87A2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Espaço Reservado para Anotações 2">
            <a:extLst>
              <a:ext uri="{FF2B5EF4-FFF2-40B4-BE49-F238E27FC236}">
                <a16:creationId xmlns:a16="http://schemas.microsoft.com/office/drawing/2014/main" id="{37EA5ECB-6025-114B-53BD-94C4ECEF13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1268" name="Espaço Reservado para Número de Slide 3">
            <a:extLst>
              <a:ext uri="{FF2B5EF4-FFF2-40B4-BE49-F238E27FC236}">
                <a16:creationId xmlns:a16="http://schemas.microsoft.com/office/drawing/2014/main" id="{5DB78BDC-F0BF-5E65-D984-EA587CF26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6A54513-0BD1-4F79-9B66-821989C7C8E9}" type="slidenum">
              <a:rPr lang="pt-BR" altLang="pt-BR" sz="1300" smtClean="0">
                <a:solidFill>
                  <a:srgbClr val="000000"/>
                </a:solidFill>
              </a:rPr>
              <a:pPr/>
              <a:t>5</a:t>
            </a:fld>
            <a:endParaRPr lang="pt-BR" altLang="pt-BR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Imagem de Slide 1">
            <a:extLst>
              <a:ext uri="{FF2B5EF4-FFF2-40B4-BE49-F238E27FC236}">
                <a16:creationId xmlns:a16="http://schemas.microsoft.com/office/drawing/2014/main" id="{3553677E-AA12-5EAF-43A2-2CBCD56148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Espaço Reservado para Anotações 2">
            <a:extLst>
              <a:ext uri="{FF2B5EF4-FFF2-40B4-BE49-F238E27FC236}">
                <a16:creationId xmlns:a16="http://schemas.microsoft.com/office/drawing/2014/main" id="{FF44C920-F784-00AD-53AC-03813969B6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3316" name="Espaço Reservado para Número de Slide 3">
            <a:extLst>
              <a:ext uri="{FF2B5EF4-FFF2-40B4-BE49-F238E27FC236}">
                <a16:creationId xmlns:a16="http://schemas.microsoft.com/office/drawing/2014/main" id="{F138DECB-4066-390B-8910-82570C813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0B15C70-D232-43D9-9DAB-ECCF3C121CE5}" type="slidenum">
              <a:rPr lang="pt-BR" altLang="pt-BR" sz="1300" smtClean="0">
                <a:solidFill>
                  <a:srgbClr val="000000"/>
                </a:solidFill>
              </a:rPr>
              <a:pPr/>
              <a:t>6</a:t>
            </a:fld>
            <a:endParaRPr lang="pt-BR" altLang="pt-BR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ço Reservado para Imagem de Slide 1">
            <a:extLst>
              <a:ext uri="{FF2B5EF4-FFF2-40B4-BE49-F238E27FC236}">
                <a16:creationId xmlns:a16="http://schemas.microsoft.com/office/drawing/2014/main" id="{CD2A6A9A-2E55-B0B0-CDB7-F2964DD6EF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Espaço Reservado para Anotações 2">
            <a:extLst>
              <a:ext uri="{FF2B5EF4-FFF2-40B4-BE49-F238E27FC236}">
                <a16:creationId xmlns:a16="http://schemas.microsoft.com/office/drawing/2014/main" id="{E2FC9141-790B-C68F-C01B-3AD915D156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5364" name="Espaço Reservado para Número de Slide 3">
            <a:extLst>
              <a:ext uri="{FF2B5EF4-FFF2-40B4-BE49-F238E27FC236}">
                <a16:creationId xmlns:a16="http://schemas.microsoft.com/office/drawing/2014/main" id="{9F059F91-6187-095A-C239-CDE3B13A1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B3D75DB-8AD8-4DAA-9EA5-0D5B5212398B}" type="slidenum">
              <a:rPr lang="pt-BR" altLang="pt-BR" sz="1300" smtClean="0">
                <a:solidFill>
                  <a:srgbClr val="000000"/>
                </a:solidFill>
              </a:rPr>
              <a:pPr/>
              <a:t>7</a:t>
            </a:fld>
            <a:endParaRPr lang="pt-BR" altLang="pt-BR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Imagem de Slide 1">
            <a:extLst>
              <a:ext uri="{FF2B5EF4-FFF2-40B4-BE49-F238E27FC236}">
                <a16:creationId xmlns:a16="http://schemas.microsoft.com/office/drawing/2014/main" id="{CAC9A599-64C1-5AB1-5884-B152A63B43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Espaço Reservado para Anotações 2">
            <a:extLst>
              <a:ext uri="{FF2B5EF4-FFF2-40B4-BE49-F238E27FC236}">
                <a16:creationId xmlns:a16="http://schemas.microsoft.com/office/drawing/2014/main" id="{F0F138AC-4146-5A46-2AEC-58E421F15B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7412" name="Espaço Reservado para Número de Slide 3">
            <a:extLst>
              <a:ext uri="{FF2B5EF4-FFF2-40B4-BE49-F238E27FC236}">
                <a16:creationId xmlns:a16="http://schemas.microsoft.com/office/drawing/2014/main" id="{D208FCDB-DDDD-4AB8-BC3E-AF3F0E82F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C29F2F7-DA1B-4CE8-A398-04364859D65B}" type="slidenum">
              <a:rPr lang="pt-BR" altLang="pt-BR" sz="1300" smtClean="0"/>
              <a:pPr/>
              <a:t>8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ço Reservado para Imagem de Slide 1">
            <a:extLst>
              <a:ext uri="{FF2B5EF4-FFF2-40B4-BE49-F238E27FC236}">
                <a16:creationId xmlns:a16="http://schemas.microsoft.com/office/drawing/2014/main" id="{916BA402-8534-14A8-0BCB-8C15EE1063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Espaço Reservado para Anotações 2">
            <a:extLst>
              <a:ext uri="{FF2B5EF4-FFF2-40B4-BE49-F238E27FC236}">
                <a16:creationId xmlns:a16="http://schemas.microsoft.com/office/drawing/2014/main" id="{DE8DE03F-DEC2-BCA6-68DD-4575115216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9460" name="Espaço Reservado para Número de Slide 3">
            <a:extLst>
              <a:ext uri="{FF2B5EF4-FFF2-40B4-BE49-F238E27FC236}">
                <a16:creationId xmlns:a16="http://schemas.microsoft.com/office/drawing/2014/main" id="{B0DDA3C9-DAB6-4AE6-0B97-2AA8E9686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DBE340E-2279-4EFF-96A8-DEB44930D6C4}" type="slidenum">
              <a:rPr lang="pt-BR" altLang="pt-BR" sz="1300" smtClean="0"/>
              <a:pPr/>
              <a:t>9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Imagem de Slide 1">
            <a:extLst>
              <a:ext uri="{FF2B5EF4-FFF2-40B4-BE49-F238E27FC236}">
                <a16:creationId xmlns:a16="http://schemas.microsoft.com/office/drawing/2014/main" id="{F2F586BE-75E7-87B3-AA76-814AD28A4D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Espaço Reservado para Anotações 2">
            <a:extLst>
              <a:ext uri="{FF2B5EF4-FFF2-40B4-BE49-F238E27FC236}">
                <a16:creationId xmlns:a16="http://schemas.microsoft.com/office/drawing/2014/main" id="{1BF3CD55-CEC9-29BA-1E66-8A1864FF22D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1508" name="Espaço Reservado para Número de Slide 3">
            <a:extLst>
              <a:ext uri="{FF2B5EF4-FFF2-40B4-BE49-F238E27FC236}">
                <a16:creationId xmlns:a16="http://schemas.microsoft.com/office/drawing/2014/main" id="{169221FF-8FF6-BFC3-F8D0-8F6C177B1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B37378D-A3FF-4D2C-8702-2FA36C60E819}" type="slidenum">
              <a:rPr lang="pt-BR" altLang="pt-BR" sz="1300" smtClean="0">
                <a:solidFill>
                  <a:srgbClr val="000000"/>
                </a:solidFill>
              </a:rPr>
              <a:pPr/>
              <a:t>10</a:t>
            </a:fld>
            <a:endParaRPr lang="pt-BR" altLang="pt-BR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ço Reservado para Imagem de Slide 1">
            <a:extLst>
              <a:ext uri="{FF2B5EF4-FFF2-40B4-BE49-F238E27FC236}">
                <a16:creationId xmlns:a16="http://schemas.microsoft.com/office/drawing/2014/main" id="{44CA3945-963E-5A05-905D-956EDA7D81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Espaço Reservado para Anotações 2">
            <a:extLst>
              <a:ext uri="{FF2B5EF4-FFF2-40B4-BE49-F238E27FC236}">
                <a16:creationId xmlns:a16="http://schemas.microsoft.com/office/drawing/2014/main" id="{5F1DFF20-9D05-21EA-7854-70F06FA074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3556" name="Espaço Reservado para Número de Slide 3">
            <a:extLst>
              <a:ext uri="{FF2B5EF4-FFF2-40B4-BE49-F238E27FC236}">
                <a16:creationId xmlns:a16="http://schemas.microsoft.com/office/drawing/2014/main" id="{27291884-7561-6FB2-6C27-FB8A65F23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89FFEF8-EFF6-4A95-887F-77134949004D}" type="slidenum">
              <a:rPr lang="pt-BR" altLang="pt-BR" sz="1300" smtClean="0">
                <a:solidFill>
                  <a:srgbClr val="000000"/>
                </a:solidFill>
              </a:rPr>
              <a:pPr/>
              <a:t>11</a:t>
            </a:fld>
            <a:endParaRPr lang="pt-BR" altLang="pt-BR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ço Reservado para Imagem de Slide 1">
            <a:extLst>
              <a:ext uri="{FF2B5EF4-FFF2-40B4-BE49-F238E27FC236}">
                <a16:creationId xmlns:a16="http://schemas.microsoft.com/office/drawing/2014/main" id="{8D932486-EC59-2D83-2417-8BD32B1365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Espaço Reservado para Anotações 2">
            <a:extLst>
              <a:ext uri="{FF2B5EF4-FFF2-40B4-BE49-F238E27FC236}">
                <a16:creationId xmlns:a16="http://schemas.microsoft.com/office/drawing/2014/main" id="{5AC8A01F-17B0-FA61-B5C5-5B04457FD8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5604" name="Espaço Reservado para Número de Slide 3">
            <a:extLst>
              <a:ext uri="{FF2B5EF4-FFF2-40B4-BE49-F238E27FC236}">
                <a16:creationId xmlns:a16="http://schemas.microsoft.com/office/drawing/2014/main" id="{916BB8F9-2E73-B984-1135-C1550C575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E870C68-DA5D-4CAC-8275-32A4DAD702EC}" type="slidenum">
              <a:rPr lang="pt-BR" altLang="pt-BR" sz="1300" smtClean="0">
                <a:solidFill>
                  <a:srgbClr val="000000"/>
                </a:solidFill>
              </a:rPr>
              <a:pPr/>
              <a:t>12</a:t>
            </a:fld>
            <a:endParaRPr lang="pt-BR" altLang="pt-BR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ço Reservado para Imagem de Slide 1">
            <a:extLst>
              <a:ext uri="{FF2B5EF4-FFF2-40B4-BE49-F238E27FC236}">
                <a16:creationId xmlns:a16="http://schemas.microsoft.com/office/drawing/2014/main" id="{10A3CDF0-0A83-58F2-613C-E9E92D72F4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Espaço Reservado para Anotações 2">
            <a:extLst>
              <a:ext uri="{FF2B5EF4-FFF2-40B4-BE49-F238E27FC236}">
                <a16:creationId xmlns:a16="http://schemas.microsoft.com/office/drawing/2014/main" id="{DB5157D6-B3E2-1D92-EE76-86013F6E38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7652" name="Espaço Reservado para Número de Slide 3">
            <a:extLst>
              <a:ext uri="{FF2B5EF4-FFF2-40B4-BE49-F238E27FC236}">
                <a16:creationId xmlns:a16="http://schemas.microsoft.com/office/drawing/2014/main" id="{71443445-E4F1-7D7C-721C-68E5B3B18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A955F7E-5480-4BC7-BF46-5F019C2DE643}" type="slidenum">
              <a:rPr lang="pt-BR" altLang="pt-BR" sz="1300" smtClean="0">
                <a:solidFill>
                  <a:srgbClr val="000000"/>
                </a:solidFill>
              </a:rPr>
              <a:pPr/>
              <a:t>13</a:t>
            </a:fld>
            <a:endParaRPr lang="pt-BR" altLang="pt-BR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Imagem de Slide 1">
            <a:extLst>
              <a:ext uri="{FF2B5EF4-FFF2-40B4-BE49-F238E27FC236}">
                <a16:creationId xmlns:a16="http://schemas.microsoft.com/office/drawing/2014/main" id="{3A4357B3-BDF6-06C5-188E-FA5AF93FE4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Espaço Reservado para Anotações 2">
            <a:extLst>
              <a:ext uri="{FF2B5EF4-FFF2-40B4-BE49-F238E27FC236}">
                <a16:creationId xmlns:a16="http://schemas.microsoft.com/office/drawing/2014/main" id="{EB00A7C9-D609-4B51-25D6-DA5923FEF6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9700" name="Espaço Reservado para Número de Slide 3">
            <a:extLst>
              <a:ext uri="{FF2B5EF4-FFF2-40B4-BE49-F238E27FC236}">
                <a16:creationId xmlns:a16="http://schemas.microsoft.com/office/drawing/2014/main" id="{36FDFCD0-BEC9-DCD5-8C43-C9EE11CFC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396B5F5-5EEB-468F-ADB1-251459C2631D}" type="slidenum">
              <a:rPr lang="pt-BR" altLang="pt-BR" sz="1300" smtClean="0">
                <a:solidFill>
                  <a:srgbClr val="000000"/>
                </a:solidFill>
              </a:rPr>
              <a:pPr/>
              <a:t>14</a:t>
            </a:fld>
            <a:endParaRPr lang="pt-BR" altLang="pt-BR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ço Reservado para Imagem de Slide 1">
            <a:extLst>
              <a:ext uri="{FF2B5EF4-FFF2-40B4-BE49-F238E27FC236}">
                <a16:creationId xmlns:a16="http://schemas.microsoft.com/office/drawing/2014/main" id="{1074ED05-A1D2-32F1-C7BA-1D8356C5C6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Espaço Reservado para Anotações 2">
            <a:extLst>
              <a:ext uri="{FF2B5EF4-FFF2-40B4-BE49-F238E27FC236}">
                <a16:creationId xmlns:a16="http://schemas.microsoft.com/office/drawing/2014/main" id="{A415252C-C010-CF3B-6818-1A259FE502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1748" name="Espaço Reservado para Número de Slide 3">
            <a:extLst>
              <a:ext uri="{FF2B5EF4-FFF2-40B4-BE49-F238E27FC236}">
                <a16:creationId xmlns:a16="http://schemas.microsoft.com/office/drawing/2014/main" id="{5F9B103F-A697-5E61-948D-460C69162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68455D0-F6ED-4BC5-9770-9F0391A2D71C}" type="slidenum">
              <a:rPr lang="pt-BR" altLang="pt-BR" sz="1300" smtClean="0"/>
              <a:pPr/>
              <a:t>15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ço Reservado para Imagem de Slide 1">
            <a:extLst>
              <a:ext uri="{FF2B5EF4-FFF2-40B4-BE49-F238E27FC236}">
                <a16:creationId xmlns:a16="http://schemas.microsoft.com/office/drawing/2014/main" id="{31B104A3-EC31-CEA8-944E-48EA529A26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Espaço Reservado para Anotações 2">
            <a:extLst>
              <a:ext uri="{FF2B5EF4-FFF2-40B4-BE49-F238E27FC236}">
                <a16:creationId xmlns:a16="http://schemas.microsoft.com/office/drawing/2014/main" id="{65D0BC51-FA42-232C-6AF5-801B91C174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3796" name="Espaço Reservado para Número de Slide 3">
            <a:extLst>
              <a:ext uri="{FF2B5EF4-FFF2-40B4-BE49-F238E27FC236}">
                <a16:creationId xmlns:a16="http://schemas.microsoft.com/office/drawing/2014/main" id="{AA035799-3667-FFEA-2070-710D2C54B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916AE0B-8016-41B3-97F8-60A147B1F8FA}" type="slidenum">
              <a:rPr lang="pt-BR" altLang="pt-BR" sz="1300" smtClean="0"/>
              <a:pPr/>
              <a:t>16</a:t>
            </a:fld>
            <a:endParaRPr lang="pt-BR" altLang="pt-BR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71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falecom@logistike.com.br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wa.me/5592992991982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9">
            <a:extLst>
              <a:ext uri="{FF2B5EF4-FFF2-40B4-BE49-F238E27FC236}">
                <a16:creationId xmlns:a16="http://schemas.microsoft.com/office/drawing/2014/main" id="{EAE0D53F-BC41-EC2A-ED17-5887B3215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88" y="6430963"/>
            <a:ext cx="274638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373FB744-C98A-4426-8AF0-C7858480FFD2}" type="slidenum"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pPr algn="r" eaLnBrk="1" hangingPunct="1"/>
              <a:t>1</a:t>
            </a:fld>
            <a:endParaRPr lang="pt-BR" altLang="pt-BR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051" name="CaixaDeTexto 9">
            <a:extLst>
              <a:ext uri="{FF2B5EF4-FFF2-40B4-BE49-F238E27FC236}">
                <a16:creationId xmlns:a16="http://schemas.microsoft.com/office/drawing/2014/main" id="{7B0D8269-3745-23C3-C53B-74D00EC0C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3429000"/>
            <a:ext cx="856932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pt-BR" altLang="pt-BR" sz="2400" b="1">
                <a:latin typeface="Garamond" panose="02020404030301010803" pitchFamily="18" charset="0"/>
              </a:rPr>
              <a:t>“NOSSA EXPERIENCIA A SERVIÇO DO SEU NEGÓCIO”</a:t>
            </a:r>
          </a:p>
          <a:p>
            <a:pPr algn="ctr" eaLnBrk="1" hangingPunct="1"/>
            <a:r>
              <a:rPr lang="pt-BR" altLang="pt-BR" sz="2400" b="1">
                <a:latin typeface="Garamond" panose="02020404030301010803" pitchFamily="18" charset="0"/>
              </a:rPr>
              <a:t>“NEGÓCIOS PREPARADOS RESULTADOS CONQUISTADOS”</a:t>
            </a:r>
          </a:p>
          <a:p>
            <a:pPr algn="ctr" eaLnBrk="1" hangingPunct="1"/>
            <a:r>
              <a:rPr lang="pt-BR" altLang="pt-BR" sz="2400" b="1">
                <a:latin typeface="Garamond" panose="02020404030301010803" pitchFamily="18" charset="0"/>
              </a:rPr>
              <a:t>AREA DE ATUAÇÃO MANAUS – AMAZONAS</a:t>
            </a:r>
          </a:p>
        </p:txBody>
      </p:sp>
      <p:sp>
        <p:nvSpPr>
          <p:cNvPr id="2052" name="CaixaDeTexto 4">
            <a:extLst>
              <a:ext uri="{FF2B5EF4-FFF2-40B4-BE49-F238E27FC236}">
                <a16:creationId xmlns:a16="http://schemas.microsoft.com/office/drawing/2014/main" id="{EC164B35-3D5F-B7AC-ABF6-59160949A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013" y="120650"/>
            <a:ext cx="7343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pt-BR" altLang="pt-BR" sz="2400" b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APRESENTAÇÃO CORPORATIVA</a:t>
            </a:r>
            <a:endParaRPr lang="pt-BR" altLang="pt-BR" b="1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3" name="Text Box 4">
            <a:extLst>
              <a:ext uri="{FF2B5EF4-FFF2-40B4-BE49-F238E27FC236}">
                <a16:creationId xmlns:a16="http://schemas.microsoft.com/office/drawing/2014/main" id="{52252264-BF09-86EE-C489-FD6CCE39C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" y="1057275"/>
            <a:ext cx="8586788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7620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7620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7620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7620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pt-BR" altLang="pt-BR" sz="2400" b="1">
                <a:solidFill>
                  <a:srgbClr val="CC0000"/>
                </a:solidFill>
                <a:latin typeface="Garamond" panose="02020404030301010803" pitchFamily="18" charset="0"/>
                <a:ea typeface="Batang" panose="02030600000101010101" pitchFamily="18" charset="-127"/>
              </a:rPr>
              <a:t>ST CAPACITACAO E SERVICOS DE LOGISTICA, CONSULTORIA E TREINAMENTO </a:t>
            </a:r>
            <a:r>
              <a:rPr lang="pt-BR" altLang="pt-BR" sz="2400" b="1">
                <a:solidFill>
                  <a:srgbClr val="002060"/>
                </a:solidFill>
                <a:latin typeface="Garamond" panose="02020404030301010803" pitchFamily="18" charset="0"/>
                <a:ea typeface="Batang" panose="02030600000101010101" pitchFamily="18" charset="-127"/>
              </a:rPr>
              <a:t>conta com mais de 20 anos de experiência na Prestação de Serviços de Mão de Obra nas áreas de Logística, Conservação e Limpeza, Treinamento, Consultoria e Assessoria Empresarial.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>
            <a:extLst>
              <a:ext uri="{FF2B5EF4-FFF2-40B4-BE49-F238E27FC236}">
                <a16:creationId xmlns:a16="http://schemas.microsoft.com/office/drawing/2014/main" id="{50506DA6-00A3-BB11-9017-9C8691E68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47625"/>
            <a:ext cx="7723187" cy="86360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PERFIL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PROPRIETÁRIO FUNDADOR  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48D229A-6008-3DE8-B8F0-8C31BDF1B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38" y="919163"/>
            <a:ext cx="8999537" cy="57388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pt-BR" sz="16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  <a:cs typeface="Arial" panose="020B0604020202020204" pitchFamily="34" charset="0"/>
              </a:rPr>
              <a:t>Sosthene Ferreira Torres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pt-BR" sz="12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  <a:cs typeface="Arial" panose="020B0604020202020204" pitchFamily="34" charset="0"/>
              </a:rPr>
              <a:t>Perfil Profissional:</a:t>
            </a:r>
          </a:p>
          <a:p>
            <a:pPr marL="174625" indent="-174625" algn="just">
              <a:buFont typeface="Wingdings" panose="05000000000000000000" pitchFamily="2" charset="2"/>
              <a:buChar char="§"/>
              <a:tabLst>
                <a:tab pos="174625" algn="l"/>
              </a:tabLst>
              <a:defRPr/>
            </a:pPr>
            <a:r>
              <a:rPr lang="pt-BR" sz="13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  <a:cs typeface="Arial" panose="020B0604020202020204" pitchFamily="34" charset="0"/>
              </a:rPr>
              <a:t>Especialista em Comercio Exterior - UFAM, Administrador graduado pela UNIP/AM, mais de 40 anos atuando diretamente em industrias, treinamentos e consultorias, domínio técnico e vivencia real em campo.</a:t>
            </a:r>
          </a:p>
          <a:p>
            <a:pPr marL="174625" indent="-174625" algn="just">
              <a:buFont typeface="Wingdings" panose="05000000000000000000" pitchFamily="2" charset="2"/>
              <a:buChar char="§"/>
              <a:tabLst>
                <a:tab pos="174625" algn="l"/>
              </a:tabLst>
              <a:defRPr/>
            </a:pPr>
            <a:r>
              <a:rPr lang="pt-BR" sz="13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  <a:cs typeface="Arial" panose="020B0604020202020204" pitchFamily="34" charset="0"/>
              </a:rPr>
              <a:t> Trinta e cinco anos de experiência em empresas de grande porte nas áreas de Logística e Administrativa no Polo Industrial e Comercio de Manaus em empresas como: LEGO BRINQUEDOS, DISMAC INDUSTRIAL, PASTORE, POSITRON, CEVA LOGISTICS e PORTO CHIBATÃO, entre outras. Ocupando cargos de Gerente de Logística, Gerente Administrativo, Chefe de Divisão Logística, Supervisor de Materiais, Supervisor de Almoxarifado, Chefe de Almoxarifado, Consultor de capacitação e treinamento empresarial e Professor universitário dos cursos de gestão tecnológico, tendo implementado vários programas de gestão em Logística tais como: Gestão de Controle de Estoques, Controle de Obsoletos, Inventário Rotativo, Gestão de Custos Logísticos, Sistemas de endereçamento de Almoxarifado, Mapeamento dos processos Logísticos de carga e descarga visando melhorar a qualidade dos serviços, Implantação de inventário Rotativo através de coletor de dados, assim como vários programas voltados para a qualidade e produtividade como: Programa 10S, </a:t>
            </a:r>
            <a:r>
              <a:rPr lang="pt-BR" sz="1300" dirty="0" err="1">
                <a:solidFill>
                  <a:srgbClr val="002060"/>
                </a:solidFill>
                <a:latin typeface="Garamond" pitchFamily="18" charset="0"/>
                <a:ea typeface="Batang" pitchFamily="18" charset="-127"/>
                <a:cs typeface="Arial" panose="020B0604020202020204" pitchFamily="34" charset="0"/>
              </a:rPr>
              <a:t>Kanban</a:t>
            </a:r>
            <a:r>
              <a:rPr lang="pt-BR" sz="13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  <a:cs typeface="Arial" panose="020B0604020202020204" pitchFamily="34" charset="0"/>
              </a:rPr>
              <a:t>, Lean, tendo ainda participado do processo de implementação e certificação de Sistemas de Gestão da Qualidade  e SGA - Sistemas de Gestão Ambiental, além de ter capacitado várias turmas ministrando vários treinamentos técnicos nas áreas de Logística para várias empresas do Polo Industrial, Comercio e Serviços de Manaus.</a:t>
            </a:r>
          </a:p>
          <a:p>
            <a:pPr marL="174625" indent="-174625" algn="just">
              <a:buFont typeface="Wingdings" panose="05000000000000000000" pitchFamily="2" charset="2"/>
              <a:buChar char="§"/>
              <a:tabLst>
                <a:tab pos="174625" algn="l"/>
              </a:tabLst>
              <a:defRPr/>
            </a:pPr>
            <a:r>
              <a:rPr lang="pt-BR" sz="13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  <a:cs typeface="Arial" panose="020B0604020202020204" pitchFamily="34" charset="0"/>
              </a:rPr>
              <a:t>Gestão corporativa das áreas de Recebimento, Controle de Estoque, Almoxarifado, Abastecimento do Processo Produtivo em ambiente de Manufatura, Inventários, Compras, Planejamento e Controle de Produção e Materiais, Faturamento, Atendimento ao Cliente, Distribuição em ambiente Fabril e Comercial, Transportes, Gestão de Frota e das áreas Administrativas e Financeiras, como: RH, Contas a Pagar e Receber, Análise de Balancete e Composição de Custos.</a:t>
            </a:r>
          </a:p>
          <a:p>
            <a:pPr marL="174625" indent="-174625" algn="just">
              <a:buFont typeface="Wingdings" panose="05000000000000000000" pitchFamily="2" charset="2"/>
              <a:buChar char="§"/>
              <a:tabLst>
                <a:tab pos="174625" algn="l"/>
              </a:tabLst>
              <a:defRPr/>
            </a:pPr>
            <a:r>
              <a:rPr lang="pt-BR" sz="13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  <a:cs typeface="Arial" panose="020B0604020202020204" pitchFamily="34" charset="0"/>
              </a:rPr>
              <a:t>Na área de docência:</a:t>
            </a:r>
          </a:p>
          <a:p>
            <a:pPr marL="174625" indent="-174625" algn="just">
              <a:buFont typeface="Wingdings" panose="05000000000000000000" pitchFamily="2" charset="2"/>
              <a:buChar char="§"/>
              <a:tabLst>
                <a:tab pos="174625" algn="l"/>
              </a:tabLst>
              <a:defRPr/>
            </a:pPr>
            <a:r>
              <a:rPr lang="pt-BR" sz="13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  <a:cs typeface="Arial" panose="020B0604020202020204" pitchFamily="34" charset="0"/>
              </a:rPr>
              <a:t>Abr./2005 até jun./2017 - UNIP</a:t>
            </a:r>
          </a:p>
          <a:p>
            <a:pPr marL="174625" indent="-174625" algn="just">
              <a:buFont typeface="Wingdings" panose="05000000000000000000" pitchFamily="2" charset="2"/>
              <a:buChar char="§"/>
              <a:tabLst>
                <a:tab pos="174625" algn="l"/>
              </a:tabLst>
              <a:defRPr/>
            </a:pPr>
            <a:r>
              <a:rPr lang="pt-BR" sz="13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  <a:cs typeface="Arial" panose="020B0604020202020204" pitchFamily="34" charset="0"/>
              </a:rPr>
              <a:t>Professor: Ensino Superior</a:t>
            </a:r>
          </a:p>
          <a:p>
            <a:pPr marL="174625" indent="-174625" algn="just">
              <a:buFont typeface="Wingdings" panose="05000000000000000000" pitchFamily="2" charset="2"/>
              <a:buChar char="§"/>
              <a:tabLst>
                <a:tab pos="174625" algn="l"/>
              </a:tabLst>
              <a:defRPr/>
            </a:pPr>
            <a:r>
              <a:rPr lang="pt-BR" sz="13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  <a:cs typeface="Arial" panose="020B0604020202020204" pitchFamily="34" charset="0"/>
              </a:rPr>
              <a:t>Disciplinas: Planejamento e Controle de Estoque, Armazenagem e Movimentação de Materiais, Plano de Negócios e Planejamento Estratégico.</a:t>
            </a:r>
          </a:p>
          <a:p>
            <a:pPr marL="174625" indent="-174625" algn="just">
              <a:buFont typeface="Wingdings" panose="05000000000000000000" pitchFamily="2" charset="2"/>
              <a:buChar char="§"/>
              <a:tabLst>
                <a:tab pos="174625" algn="l"/>
              </a:tabLst>
              <a:defRPr/>
            </a:pPr>
            <a:r>
              <a:rPr lang="pt-BR" sz="13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  <a:cs typeface="Arial" panose="020B0604020202020204" pitchFamily="34" charset="0"/>
              </a:rPr>
              <a:t>2000 – Até o Momento. – FIEAM</a:t>
            </a:r>
          </a:p>
          <a:p>
            <a:pPr marL="174625" indent="-174625" algn="just">
              <a:buFont typeface="Wingdings" panose="05000000000000000000" pitchFamily="2" charset="2"/>
              <a:buChar char="§"/>
              <a:tabLst>
                <a:tab pos="174625" algn="l"/>
              </a:tabLst>
              <a:defRPr/>
            </a:pPr>
            <a:r>
              <a:rPr lang="pt-BR" sz="13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  <a:cs typeface="Arial" panose="020B0604020202020204" pitchFamily="34" charset="0"/>
              </a:rPr>
              <a:t>Consultor de Projetos e Treinamento.</a:t>
            </a:r>
          </a:p>
          <a:p>
            <a:pPr marL="174625" indent="-174625" algn="just">
              <a:buFont typeface="Wingdings" panose="05000000000000000000" pitchFamily="2" charset="2"/>
              <a:buChar char="§"/>
              <a:tabLst>
                <a:tab pos="174625" algn="l"/>
              </a:tabLst>
              <a:defRPr/>
            </a:pPr>
            <a:endParaRPr lang="pt-BR" sz="1200" dirty="0">
              <a:solidFill>
                <a:srgbClr val="002060"/>
              </a:solidFill>
              <a:latin typeface="Garamond" pitchFamily="18" charset="0"/>
              <a:ea typeface="Batang" pitchFamily="18" charset="-127"/>
              <a:cs typeface="Arial" panose="020B0604020202020204" pitchFamily="34" charset="0"/>
            </a:endParaRPr>
          </a:p>
        </p:txBody>
      </p:sp>
      <p:sp>
        <p:nvSpPr>
          <p:cNvPr id="4100" name="Rectangle 19">
            <a:extLst>
              <a:ext uri="{FF2B5EF4-FFF2-40B4-BE49-F238E27FC236}">
                <a16:creationId xmlns:a16="http://schemas.microsoft.com/office/drawing/2014/main" id="{EFB8D5A1-4B37-35CB-CF3F-837F51ECC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" y="6502400"/>
            <a:ext cx="4318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fld id="{E065C3B4-3DBA-4735-8EAF-6D1180161409}" type="slidenum"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pPr algn="ctr" eaLnBrk="1" hangingPunct="1"/>
              <a:t>2</a:t>
            </a:fld>
            <a:endParaRPr lang="pt-BR" altLang="pt-BR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>
            <a:extLst>
              <a:ext uri="{FF2B5EF4-FFF2-40B4-BE49-F238E27FC236}">
                <a16:creationId xmlns:a16="http://schemas.microsoft.com/office/drawing/2014/main" id="{30045B0F-BCA6-103A-6C12-1DED929E3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47625"/>
            <a:ext cx="7723187" cy="86360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MEMORIAL DESCRITIVO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90E5322-011B-DE4C-7C63-179D7FF94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88" y="1103313"/>
            <a:ext cx="9432925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Estruturar a gestão de logística, sob a ótica do Gerenciamento de Processos de Negócios, que permite identificar, classificar, catalogar, padronizar e descrever otimizando processos de forma ordenada e contínua dos processos da empresa em conformidade com a NR 01, NR 06, NR 07, NR 11, NR 17 e NR 26.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O sistema de gestão proposto pela ST CAPACITACAO E SERVICOS DE LOGISTICA é estruturado a partir dos processos de trabalho identificados, que servem de base para o desenvolvimento do gerenciamento de processos de produtos que ordena as demandas de trabalho ajustando-as a capacidade produtiva da empresa possibilitando a eliminação de gargalos, avarias, acúmulos de trabalho e excesso de ociosidade.</a:t>
            </a:r>
          </a:p>
        </p:txBody>
      </p:sp>
      <p:sp>
        <p:nvSpPr>
          <p:cNvPr id="6148" name="Rectangle 19">
            <a:extLst>
              <a:ext uri="{FF2B5EF4-FFF2-40B4-BE49-F238E27FC236}">
                <a16:creationId xmlns:a16="http://schemas.microsoft.com/office/drawing/2014/main" id="{4E9B9665-2229-3991-F57C-1F828F477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88" y="6430963"/>
            <a:ext cx="274638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1AB3B62F-1E7F-4399-9D2F-203AC92AD6A1}" type="slidenum"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pPr algn="r" eaLnBrk="1" hangingPunct="1"/>
              <a:t>3</a:t>
            </a:fld>
            <a:endParaRPr lang="pt-BR" altLang="pt-BR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>
            <a:extLst>
              <a:ext uri="{FF2B5EF4-FFF2-40B4-BE49-F238E27FC236}">
                <a16:creationId xmlns:a16="http://schemas.microsoft.com/office/drawing/2014/main" id="{DFBA5B8D-3BC9-4552-B566-7683D65DD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47625"/>
            <a:ext cx="7723187" cy="86360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SEGMENTOS DE ATUAÇÃO</a:t>
            </a:r>
          </a:p>
        </p:txBody>
      </p:sp>
      <p:sp>
        <p:nvSpPr>
          <p:cNvPr id="8195" name="Rectangle 19">
            <a:extLst>
              <a:ext uri="{FF2B5EF4-FFF2-40B4-BE49-F238E27FC236}">
                <a16:creationId xmlns:a16="http://schemas.microsoft.com/office/drawing/2014/main" id="{C32A13FF-BA45-5247-BD91-3CA0FD33B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88" y="6430963"/>
            <a:ext cx="274638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3AB60857-8115-442A-8456-C0A64D2A78E5}" type="slidenum"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pPr algn="r" eaLnBrk="1" hangingPunct="1"/>
              <a:t>4</a:t>
            </a:fld>
            <a:endParaRPr lang="pt-BR" altLang="pt-BR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DA619D0-2EF9-775E-045B-4B0B9660A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013" y="1196975"/>
            <a:ext cx="6696075" cy="521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INDUSTRIA;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COMERCIO – ATACADO E VAREJO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BEBIDAS;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ALIMENTOS;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HIGINE E LIMPEZA;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INFORMATICA;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AUTO PEÇAS;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COSMÉTICO;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VESTUARIO E TÊXTIL;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ELETROELETONICO;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MOTOCICLETAS E BICICLETAS;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>
            <a:extLst>
              <a:ext uri="{FF2B5EF4-FFF2-40B4-BE49-F238E27FC236}">
                <a16:creationId xmlns:a16="http://schemas.microsoft.com/office/drawing/2014/main" id="{F5E93AE1-96C0-8AD3-7C47-FFABF63BD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47625"/>
            <a:ext cx="7723187" cy="86360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b="1" dirty="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BENEFICIOS PROPOSTO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b="1" dirty="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C9E01B2-11B9-BBDD-2613-4954D2FC2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" y="935038"/>
            <a:ext cx="8497888" cy="573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Aumento da produtividade;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Racionalização de recursos e redução de desperdícios;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Identifica comportamentos, gargalos e ineficiências nos processos;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Integra departamentos e pessoas;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Insere cultura de melhoria contínua </a:t>
            </a:r>
            <a:r>
              <a:rPr lang="pt-BR" altLang="pt-BR" sz="2400" b="1">
                <a:solidFill>
                  <a:srgbClr val="1F497D"/>
                </a:solidFill>
                <a:latin typeface="Garamond" panose="02020404030301010803" pitchFamily="18" charset="0"/>
              </a:rPr>
              <a:t>(10s, Kaizen e Lean);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Permite a gestão efetiva do negócio;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Interatividade da equipe de mão de obra ou seja a empresa terá sempre os mesmos colaboradores com conhecimento das rotinas e processos da empresa objetivando eliminar os desperdícios de tempo e avarias de mercadorias, produto acabado ou matéria prima a ser manufaturada ou vendidos no decurso das operações de logística.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pt-BR" altLang="pt-BR" sz="2400">
                <a:solidFill>
                  <a:srgbClr val="1F497D"/>
                </a:solidFill>
                <a:latin typeface="Garamond" panose="02020404030301010803" pitchFamily="18" charset="0"/>
              </a:rPr>
              <a:t>Tendo a mesma aplicabilidade para Serviços Gerais (Conservação e Limpeza).</a:t>
            </a:r>
          </a:p>
        </p:txBody>
      </p:sp>
      <p:sp>
        <p:nvSpPr>
          <p:cNvPr id="10244" name="Rectangle 19">
            <a:extLst>
              <a:ext uri="{FF2B5EF4-FFF2-40B4-BE49-F238E27FC236}">
                <a16:creationId xmlns:a16="http://schemas.microsoft.com/office/drawing/2014/main" id="{38D52496-2D63-5C46-F974-3A1D197E9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88" y="6430963"/>
            <a:ext cx="274638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67C15A2D-9F32-49C7-AA15-1193FBB2DB3F}" type="slidenum"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pPr algn="r" eaLnBrk="1" hangingPunct="1"/>
              <a:t>5</a:t>
            </a:fld>
            <a:endParaRPr lang="pt-BR" altLang="pt-BR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>
            <a:extLst>
              <a:ext uri="{FF2B5EF4-FFF2-40B4-BE49-F238E27FC236}">
                <a16:creationId xmlns:a16="http://schemas.microsoft.com/office/drawing/2014/main" id="{A690AB99-03D4-2AD6-9D7F-2D1D627FB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47625"/>
            <a:ext cx="7723187" cy="86360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b="1" dirty="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RECURSOS ENVOLVIDOS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b="1" dirty="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</p:txBody>
      </p:sp>
      <p:sp>
        <p:nvSpPr>
          <p:cNvPr id="6" name="Rectangle 1027">
            <a:extLst>
              <a:ext uri="{FF2B5EF4-FFF2-40B4-BE49-F238E27FC236}">
                <a16:creationId xmlns:a16="http://schemas.microsoft.com/office/drawing/2014/main" id="{D92B0A16-1172-D68C-92E5-E262EA865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1052513"/>
            <a:ext cx="8948738" cy="526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pt-BR" altLang="pt-BR" sz="3200">
                <a:solidFill>
                  <a:srgbClr val="1F497D"/>
                </a:solidFill>
                <a:latin typeface="Garamond" panose="02020404030301010803" pitchFamily="18" charset="0"/>
              </a:rPr>
              <a:t>Mão-de-obra Operacional: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pt-BR" altLang="pt-BR" sz="3200">
                <a:solidFill>
                  <a:srgbClr val="1F497D"/>
                </a:solidFill>
                <a:latin typeface="Garamond" panose="02020404030301010803" pitchFamily="18" charset="0"/>
              </a:rPr>
              <a:t>Equipe especializada em logística de Recebimento (Desova) Armazenagem, Localização, Movimentação, Segurança, Preservação e Controle (Inventários) e Expedição (Ova);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pt-BR" altLang="pt-BR" sz="3200">
                <a:solidFill>
                  <a:srgbClr val="1F497D"/>
                </a:solidFill>
                <a:latin typeface="Garamond" panose="02020404030301010803" pitchFamily="18" charset="0"/>
              </a:rPr>
              <a:t>Equipe especializada em Conservação e Limpeza;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pt-BR" altLang="pt-BR" sz="3200">
                <a:solidFill>
                  <a:srgbClr val="1F497D"/>
                </a:solidFill>
                <a:latin typeface="Garamond" panose="02020404030301010803" pitchFamily="18" charset="0"/>
              </a:rPr>
              <a:t>Treinamento e acompanhamento dos funcionários </a:t>
            </a:r>
            <a:r>
              <a:rPr lang="pt-BR" altLang="pt-BR" sz="3200" i="1">
                <a:solidFill>
                  <a:srgbClr val="1F497D"/>
                </a:solidFill>
                <a:latin typeface="Garamond" panose="02020404030301010803" pitchFamily="18" charset="0"/>
              </a:rPr>
              <a:t>in loco </a:t>
            </a:r>
            <a:r>
              <a:rPr lang="pt-BR" altLang="pt-BR" sz="3200">
                <a:solidFill>
                  <a:srgbClr val="1F497D"/>
                </a:solidFill>
                <a:latin typeface="Garamond" panose="02020404030301010803" pitchFamily="18" charset="0"/>
              </a:rPr>
              <a:t>visando sempre a melhoria continua dos processos operacionais;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pt-BR" altLang="pt-BR" sz="3200">
                <a:solidFill>
                  <a:srgbClr val="1F497D"/>
                </a:solidFill>
                <a:latin typeface="Garamond" panose="02020404030301010803" pitchFamily="18" charset="0"/>
              </a:rPr>
              <a:t>Monitoração de erros e problemas detectados no campo operacional com resolução imediata.</a:t>
            </a:r>
          </a:p>
          <a:p>
            <a:pPr lvl="1" algn="just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pt-BR" altLang="pt-BR" sz="2000">
              <a:solidFill>
                <a:srgbClr val="1F497D"/>
              </a:solidFill>
              <a:latin typeface="Calibri" panose="020F0502020204030204" pitchFamily="34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pt-BR" altLang="pt-BR" sz="2000">
              <a:solidFill>
                <a:srgbClr val="1F497D"/>
              </a:solidFill>
              <a:latin typeface="Calibri" panose="020F0502020204030204" pitchFamily="34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pt-BR" altLang="pt-BR" sz="2000">
              <a:solidFill>
                <a:srgbClr val="1F497D"/>
              </a:solidFill>
              <a:latin typeface="Calibri" panose="020F0502020204030204" pitchFamily="34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pt-BR" altLang="pt-BR" sz="2000">
              <a:solidFill>
                <a:srgbClr val="1F497D"/>
              </a:solidFill>
              <a:latin typeface="Calibri" panose="020F0502020204030204" pitchFamily="34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pt-BR" altLang="pt-BR" sz="2000">
              <a:solidFill>
                <a:srgbClr val="1F497D"/>
              </a:solidFill>
              <a:latin typeface="Calibri" panose="020F0502020204030204" pitchFamily="34" charset="0"/>
            </a:endParaRPr>
          </a:p>
        </p:txBody>
      </p:sp>
      <p:sp>
        <p:nvSpPr>
          <p:cNvPr id="12292" name="Rectangle 19">
            <a:extLst>
              <a:ext uri="{FF2B5EF4-FFF2-40B4-BE49-F238E27FC236}">
                <a16:creationId xmlns:a16="http://schemas.microsoft.com/office/drawing/2014/main" id="{7082C4E6-F4D2-E99E-0F0A-364302D9E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88" y="6430963"/>
            <a:ext cx="274638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7D7D774D-622F-4DCF-B850-377A46EB29D8}" type="slidenum"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pPr algn="r" eaLnBrk="1" hangingPunct="1"/>
              <a:t>6</a:t>
            </a:fld>
            <a:endParaRPr lang="pt-BR" altLang="pt-BR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>
            <a:extLst>
              <a:ext uri="{FF2B5EF4-FFF2-40B4-BE49-F238E27FC236}">
                <a16:creationId xmlns:a16="http://schemas.microsoft.com/office/drawing/2014/main" id="{6027A17C-26D3-0E5D-0E1C-92EBF2CA9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47625"/>
            <a:ext cx="7723187" cy="86360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EXPERÊNCIA É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NOSSA ESSÊNCIA</a:t>
            </a:r>
            <a:endParaRPr 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</p:txBody>
      </p:sp>
      <p:sp>
        <p:nvSpPr>
          <p:cNvPr id="14339" name="Rectangle 19">
            <a:extLst>
              <a:ext uri="{FF2B5EF4-FFF2-40B4-BE49-F238E27FC236}">
                <a16:creationId xmlns:a16="http://schemas.microsoft.com/office/drawing/2014/main" id="{E289C70F-C6AA-1AAE-19A3-6ED5A03F3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" y="6502400"/>
            <a:ext cx="4318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fld id="{B972619B-76DB-402E-9AAF-6EC8D93F7DF5}" type="slidenum"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pPr algn="ctr" eaLnBrk="1" hangingPunct="1"/>
              <a:t>7</a:t>
            </a:fld>
            <a:endParaRPr lang="pt-BR" altLang="pt-BR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4340" name="Retângulo 1">
            <a:extLst>
              <a:ext uri="{FF2B5EF4-FFF2-40B4-BE49-F238E27FC236}">
                <a16:creationId xmlns:a16="http://schemas.microsoft.com/office/drawing/2014/main" id="{14FFD259-4859-A237-1602-8B7828A9E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908050"/>
            <a:ext cx="8929687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pt-BR" altLang="pt-BR" sz="2800">
                <a:solidFill>
                  <a:srgbClr val="1F497D"/>
                </a:solidFill>
                <a:latin typeface="Garamond" panose="02020404030301010803" pitchFamily="18" charset="0"/>
              </a:rPr>
              <a:t>O Nosso grupo iniciou suas operações com o fundador que acumulou mais de 40 anos de sucesso nas área de Logística, Administrativa e Financeira, trabalhando em algumas das maiores empresas do Brasil dos diversos segmentos.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pt-BR" altLang="pt-BR" sz="2800">
                <a:solidFill>
                  <a:srgbClr val="1F497D"/>
                </a:solidFill>
                <a:latin typeface="Garamond" panose="02020404030301010803" pitchFamily="18" charset="0"/>
              </a:rPr>
              <a:t>Com base nessa sólida base de conhecimento e conquistas, trouxemos uma proposta única para os clientes, combinando expertise, inovação e comprometimento para enfrentar os desafios logísticos com excelência.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v"/>
            </a:pPr>
            <a:r>
              <a:rPr lang="pt-BR" altLang="pt-BR" sz="2800">
                <a:solidFill>
                  <a:srgbClr val="1F497D"/>
                </a:solidFill>
                <a:latin typeface="Garamond" panose="02020404030301010803" pitchFamily="18" charset="0"/>
              </a:rPr>
              <a:t>Minha trajetória e conhecimento acumulado e a base para enfrentar os desafios, oferecer soluções inovadoras e elevar os padrões de excelência. É com entusiasmo e paixão que embargamos nesta jornada, com objetivo de deixar um legado duradouro na indústria da logística.</a:t>
            </a:r>
            <a:endParaRPr lang="pt-BR" altLang="pt-BR" sz="2400">
              <a:solidFill>
                <a:srgbClr val="1F497D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>
            <a:extLst>
              <a:ext uri="{FF2B5EF4-FFF2-40B4-BE49-F238E27FC236}">
                <a16:creationId xmlns:a16="http://schemas.microsoft.com/office/drawing/2014/main" id="{4DF6FC36-BAE3-9388-D327-CC5E4A04C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063" y="47625"/>
            <a:ext cx="7723187" cy="86360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NOSSOS SERVIÇOS</a:t>
            </a:r>
          </a:p>
        </p:txBody>
      </p:sp>
      <p:sp>
        <p:nvSpPr>
          <p:cNvPr id="9221" name="Text Box 4">
            <a:extLst>
              <a:ext uri="{FF2B5EF4-FFF2-40B4-BE49-F238E27FC236}">
                <a16:creationId xmlns:a16="http://schemas.microsoft.com/office/drawing/2014/main" id="{4C567F99-3D52-8CC7-C1B9-37B5AD1B0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8" y="1484313"/>
            <a:ext cx="8547100" cy="44005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defRPr/>
            </a:pPr>
            <a:r>
              <a:rPr lang="pt-BR" sz="2800" b="1" dirty="0">
                <a:latin typeface="Garamond" pitchFamily="18" charset="0"/>
              </a:rPr>
              <a:t>Logística é a nossa ESSÊNCIA principal</a:t>
            </a:r>
          </a:p>
          <a:p>
            <a:pPr>
              <a:defRPr/>
            </a:pPr>
            <a:r>
              <a:rPr lang="pt-BR" sz="2800" dirty="0">
                <a:latin typeface="Garamond" pitchFamily="18" charset="0"/>
              </a:rPr>
              <a:t> </a:t>
            </a:r>
          </a:p>
          <a:p>
            <a:pPr>
              <a:defRPr/>
            </a:pPr>
            <a:r>
              <a:rPr lang="pt-BR" sz="2800" dirty="0">
                <a:latin typeface="Garamond" pitchFamily="18" charset="0"/>
              </a:rPr>
              <a:t>TRANSFORMANDO DESAFIOS EM SOLUÇÕES</a:t>
            </a:r>
          </a:p>
          <a:p>
            <a:pPr marL="0" indent="0">
              <a:defRPr/>
            </a:pPr>
            <a:endParaRPr lang="pt-BR" sz="2800" dirty="0">
              <a:latin typeface="Garamond" pitchFamily="18" charset="0"/>
            </a:endParaRPr>
          </a:p>
          <a:p>
            <a:pPr marL="0" indent="0" algn="just">
              <a:defRPr/>
            </a:pPr>
            <a:r>
              <a:rPr lang="pt-BR" sz="2800" dirty="0">
                <a:latin typeface="Garamond" pitchFamily="18" charset="0"/>
              </a:rPr>
              <a:t>Bem-vindo(a) à nossa gama abrangente de serviços de logística, onde a excelência é nossa bússola e a eficiência é o nosso compromisso. Com base em anos de experiência, conhecimento sólido e uma paixão inabalável pela inovação, estamos aqui para moldar a maneira como a logística é percebida e executada.</a:t>
            </a:r>
            <a:endParaRPr lang="pt-BR" altLang="pt-BR" sz="2000" dirty="0">
              <a:solidFill>
                <a:srgbClr val="002060"/>
              </a:solidFill>
              <a:latin typeface="Garamond" pitchFamily="18" charset="0"/>
              <a:ea typeface="Batang" pitchFamily="18" charset="-127"/>
            </a:endParaRPr>
          </a:p>
        </p:txBody>
      </p:sp>
      <p:sp>
        <p:nvSpPr>
          <p:cNvPr id="16388" name="Rectangle 19">
            <a:extLst>
              <a:ext uri="{FF2B5EF4-FFF2-40B4-BE49-F238E27FC236}">
                <a16:creationId xmlns:a16="http://schemas.microsoft.com/office/drawing/2014/main" id="{21B43CF6-C65E-7751-B9D2-E128C2304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" y="6502400"/>
            <a:ext cx="4318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fld id="{16124C2A-7DEB-434F-9FF2-5E9A64DC51D1}" type="slidenum"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pPr algn="ctr" eaLnBrk="1" hangingPunct="1"/>
              <a:t>8</a:t>
            </a:fld>
            <a:endParaRPr lang="pt-BR" altLang="pt-BR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>
            <a:extLst>
              <a:ext uri="{FF2B5EF4-FFF2-40B4-BE49-F238E27FC236}">
                <a16:creationId xmlns:a16="http://schemas.microsoft.com/office/drawing/2014/main" id="{D5C5628B-442B-EE21-4A3B-17ACA4182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063" y="47625"/>
            <a:ext cx="7723187" cy="86360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NOSSOS SERVIÇOS</a:t>
            </a:r>
          </a:p>
        </p:txBody>
      </p:sp>
      <p:sp>
        <p:nvSpPr>
          <p:cNvPr id="9221" name="Text Box 4">
            <a:extLst>
              <a:ext uri="{FF2B5EF4-FFF2-40B4-BE49-F238E27FC236}">
                <a16:creationId xmlns:a16="http://schemas.microsoft.com/office/drawing/2014/main" id="{94992585-F98F-0272-CAE4-FEE0FDE4A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976313"/>
            <a:ext cx="8737600" cy="55483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180975" lvl="1" indent="0" algn="just" eaLnBrk="1" hangingPunct="1">
              <a:lnSpc>
                <a:spcPts val="2500"/>
              </a:lnSpc>
              <a:defRPr/>
            </a:pPr>
            <a:r>
              <a:rPr lang="pt-BR" sz="24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Somos especialistas em:</a:t>
            </a:r>
          </a:p>
          <a:p>
            <a:pPr marL="180975" lvl="1" indent="0" algn="just" eaLnBrk="1" hangingPunct="1">
              <a:lnSpc>
                <a:spcPts val="2500"/>
              </a:lnSpc>
              <a:defRPr/>
            </a:pPr>
            <a:r>
              <a:rPr lang="en-US" altLang="pt-BR" sz="2400" b="1" dirty="0" err="1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Treinamento</a:t>
            </a:r>
            <a:r>
              <a:rPr lang="en-US" altLang="pt-BR" sz="24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 de </a:t>
            </a:r>
            <a:r>
              <a:rPr lang="en-US" altLang="pt-BR" sz="2400" b="1" dirty="0" err="1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Capacitação</a:t>
            </a:r>
            <a:r>
              <a:rPr lang="en-US" altLang="pt-BR" sz="24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 </a:t>
            </a:r>
            <a:r>
              <a:rPr lang="en-US" altLang="pt-BR" sz="2400" b="1" dirty="0" err="1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Profissional</a:t>
            </a:r>
            <a:r>
              <a:rPr lang="en-US" altLang="pt-BR" sz="24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: </a:t>
            </a:r>
          </a:p>
          <a:p>
            <a:pPr marL="180975" lvl="1" indent="0" algn="just" eaLnBrk="1" hangingPunct="1">
              <a:lnSpc>
                <a:spcPts val="2500"/>
              </a:lnSpc>
              <a:defRPr/>
            </a:pPr>
            <a:r>
              <a:rPr lang="pt-BR" altLang="pt-BR" sz="24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Esta é uma modalidade muito funcional, onde transferimos todos os conhecimentos visando a capacitação profissional na área de atuação.</a:t>
            </a:r>
          </a:p>
          <a:p>
            <a:pPr marL="442913" lvl="1" indent="-261938" algn="just" eaLnBrk="1" hangingPunct="1">
              <a:lnSpc>
                <a:spcPts val="2500"/>
              </a:lnSpc>
              <a:buFont typeface="Wingdings" panose="05000000000000000000" pitchFamily="2" charset="2"/>
              <a:buChar char="q"/>
              <a:defRPr/>
            </a:pPr>
            <a:r>
              <a:rPr lang="en-US" altLang="pt-BR" sz="2400" b="1" dirty="0" err="1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Terceirização</a:t>
            </a:r>
            <a:r>
              <a:rPr lang="en-US" altLang="pt-BR" sz="24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:</a:t>
            </a:r>
          </a:p>
          <a:p>
            <a:pPr marL="180975" lvl="1" indent="0" algn="just" eaLnBrk="1" hangingPunct="1">
              <a:lnSpc>
                <a:spcPts val="2500"/>
              </a:lnSpc>
              <a:defRPr/>
            </a:pPr>
            <a:r>
              <a:rPr lang="pt-BR" sz="24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Terceirizar um setor de uma empresa e transferir a um terceiro um “braço” da atividade operacional. Esta terceirização deve ser pautada em detalhes quanto a escolha do parceiro, pois o compromisso de acertar na primeira vez, deve ser de ambas as partes, bem como as responsabilidades, que serão partilhadas em mesmo grau.</a:t>
            </a:r>
          </a:p>
          <a:p>
            <a:pPr marL="523875" lvl="1" indent="-342900" algn="just" eaLnBrk="1" hangingPunct="1">
              <a:lnSpc>
                <a:spcPts val="2500"/>
              </a:lnSpc>
              <a:buFont typeface="Wingdings" pitchFamily="2" charset="2"/>
              <a:buChar char="q"/>
              <a:defRPr/>
            </a:pPr>
            <a:r>
              <a:rPr lang="pt-BR" sz="24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Nossa atuação vai além da mera terceirização.</a:t>
            </a:r>
          </a:p>
          <a:p>
            <a:pPr marL="180975" lvl="1" indent="0" algn="just" eaLnBrk="1" hangingPunct="1">
              <a:lnSpc>
                <a:spcPts val="2500"/>
              </a:lnSpc>
              <a:defRPr/>
            </a:pPr>
            <a:r>
              <a:rPr lang="pt-BR" sz="24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Agregamos valor em cada etapa do processo, otimizando operações e tornando os negócios de nossos clientes mais eficientes e competitivos.</a:t>
            </a:r>
          </a:p>
          <a:p>
            <a:pPr marL="180975" lvl="1" indent="0" algn="just" eaLnBrk="1" hangingPunct="1">
              <a:lnSpc>
                <a:spcPts val="2500"/>
              </a:lnSpc>
              <a:defRPr/>
            </a:pPr>
            <a:r>
              <a:rPr lang="pt-BR" sz="24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Não apenas apontamos o caminho, nós percorremos esse trajeto ao lado de nossos clientes, entregando resultados concretos e soluções efetivas</a:t>
            </a:r>
            <a:r>
              <a:rPr lang="pt-BR" sz="20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.</a:t>
            </a:r>
            <a:endParaRPr lang="pt-BR" altLang="pt-BR" sz="2000" dirty="0">
              <a:solidFill>
                <a:srgbClr val="002060"/>
              </a:solidFill>
              <a:latin typeface="Garamond" pitchFamily="18" charset="0"/>
              <a:ea typeface="Batang" pitchFamily="18" charset="-127"/>
            </a:endParaRPr>
          </a:p>
        </p:txBody>
      </p:sp>
      <p:sp>
        <p:nvSpPr>
          <p:cNvPr id="18436" name="Rectangle 19">
            <a:extLst>
              <a:ext uri="{FF2B5EF4-FFF2-40B4-BE49-F238E27FC236}">
                <a16:creationId xmlns:a16="http://schemas.microsoft.com/office/drawing/2014/main" id="{CD8CEF2A-8F90-940F-E551-BA96003CD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" y="6502400"/>
            <a:ext cx="4318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fld id="{D8B81A32-2F6E-414A-A050-2517DAABECA2}" type="slidenum"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pPr algn="ctr" eaLnBrk="1" hangingPunct="1"/>
              <a:t>9</a:t>
            </a:fld>
            <a:endParaRPr lang="pt-BR" altLang="pt-BR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>
            <a:extLst>
              <a:ext uri="{FF2B5EF4-FFF2-40B4-BE49-F238E27FC236}">
                <a16:creationId xmlns:a16="http://schemas.microsoft.com/office/drawing/2014/main" id="{8B195AA6-9F2B-5C68-3DC3-59A4FB4FD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063" y="47625"/>
            <a:ext cx="7723187" cy="86360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NOSSOS SERVIÇOS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3DF03845-D015-DD91-1E94-EFC263B72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88" y="1052513"/>
            <a:ext cx="9034462" cy="56943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eaLnBrk="0" hangingPunct="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>
              <a:spcBef>
                <a:spcPct val="150000"/>
              </a:spcBef>
              <a:defRPr/>
            </a:pPr>
            <a:r>
              <a:rPr lang="pt-BR" sz="2400" b="1" dirty="0">
                <a:solidFill>
                  <a:srgbClr val="003399"/>
                </a:solidFill>
                <a:latin typeface="Garamond" pitchFamily="18" charset="0"/>
                <a:ea typeface="Batang" pitchFamily="18" charset="-127"/>
              </a:rPr>
              <a:t>Terceirização (Prestação de Serviços):</a:t>
            </a:r>
          </a:p>
          <a:p>
            <a:pPr marL="177800" indent="-177800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Ova e Desova</a:t>
            </a:r>
            <a:r>
              <a:rPr lang="pt-BR" sz="20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;</a:t>
            </a:r>
          </a:p>
          <a:p>
            <a:pPr marL="177800" indent="-177800">
              <a:buFont typeface="Wingdings" panose="05000000000000000000" pitchFamily="2" charset="2"/>
              <a:buChar char="§"/>
              <a:defRPr/>
            </a:pPr>
            <a:r>
              <a:rPr lang="pt-BR" sz="2000" b="1" dirty="0" err="1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Unitização</a:t>
            </a:r>
            <a:r>
              <a:rPr lang="pt-BR" sz="20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 de carga;</a:t>
            </a:r>
          </a:p>
          <a:p>
            <a:pPr marL="177800" indent="-177800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Etiquetagem e identificação personalizada;</a:t>
            </a:r>
          </a:p>
          <a:p>
            <a:pPr marL="177800" indent="-177800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Gestão de Almoxarifado </a:t>
            </a:r>
            <a:r>
              <a:rPr lang="pt-BR" sz="20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mantendo um controle rígido e um gerenciamento efetivo dos estoques, garantindo um fluxo suave e contínuo;</a:t>
            </a:r>
          </a:p>
          <a:p>
            <a:pPr marL="177800" indent="-177800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Elaboração de Inventários geral e/ou rotativo;</a:t>
            </a:r>
            <a:endParaRPr lang="en-US" sz="2000" b="1" dirty="0">
              <a:solidFill>
                <a:srgbClr val="002060"/>
              </a:solidFill>
              <a:latin typeface="Garamond" pitchFamily="18" charset="0"/>
              <a:ea typeface="Batang" pitchFamily="18" charset="-127"/>
            </a:endParaRPr>
          </a:p>
          <a:p>
            <a:pPr marL="177800" indent="-177800">
              <a:buFont typeface="Wingdings" panose="05000000000000000000" pitchFamily="2" charset="2"/>
              <a:buChar char="§"/>
              <a:defRPr/>
            </a:pPr>
            <a:r>
              <a:rPr lang="pt-BR" sz="2000" b="1" dirty="0" err="1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Picking</a:t>
            </a:r>
            <a:r>
              <a:rPr lang="pt-BR" sz="20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 e Expedição;</a:t>
            </a:r>
          </a:p>
          <a:p>
            <a:pPr marL="177800" indent="-177800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Abastecimento de Linhas de Produção </a:t>
            </a:r>
            <a:r>
              <a:rPr lang="pt-BR" sz="20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garantindo um fluxo otimizado e contínuo para suas linhas produtivas, para que o ritmo nunca pare;</a:t>
            </a:r>
          </a:p>
          <a:p>
            <a:pPr marL="177800" indent="-177800" algn="just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Operações Internas de Movimentação de materiais </a:t>
            </a:r>
            <a:r>
              <a:rPr lang="pt-BR" sz="20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com agilidade e precisão são as bases do nosso fluxo interno, mantendo tudo em movimento com a máxima eficiência;</a:t>
            </a:r>
          </a:p>
          <a:p>
            <a:pPr marL="177800" indent="-177800" algn="just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Processos logísticos do recebimento </a:t>
            </a:r>
            <a:r>
              <a:rPr lang="pt-BR" sz="20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à expedição, nossa excelência em controle de inventário e distribuição garante que seus produtos cheguem onde precisam estar,  quando precisam estar lá;</a:t>
            </a:r>
          </a:p>
          <a:p>
            <a:pPr marL="177800" indent="-177800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Limpeza e Conservação;</a:t>
            </a:r>
          </a:p>
          <a:p>
            <a:pPr marL="177800" indent="-177800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Seleção de Mão de Obra e Locação de Mão de Obra;</a:t>
            </a:r>
          </a:p>
          <a:p>
            <a:pPr marL="177800" indent="-177800">
              <a:buFont typeface="Wingdings" panose="05000000000000000000" pitchFamily="2" charset="2"/>
              <a:buChar char="§"/>
              <a:defRPr/>
            </a:pPr>
            <a:r>
              <a:rPr lang="pt-BR" sz="2000" b="1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Ou de acordo com a necessidade do cliente.</a:t>
            </a:r>
          </a:p>
        </p:txBody>
      </p:sp>
      <p:sp>
        <p:nvSpPr>
          <p:cNvPr id="20484" name="Rectangle 19">
            <a:extLst>
              <a:ext uri="{FF2B5EF4-FFF2-40B4-BE49-F238E27FC236}">
                <a16:creationId xmlns:a16="http://schemas.microsoft.com/office/drawing/2014/main" id="{7A146526-DAFF-3E5D-0E21-F9908A637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" y="6502400"/>
            <a:ext cx="4318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fld id="{4A62FA32-B555-454F-B067-A7EDD629B495}" type="slidenum"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pPr algn="ctr" eaLnBrk="1" hangingPunct="1"/>
              <a:t>10</a:t>
            </a:fld>
            <a:endParaRPr lang="pt-BR" altLang="pt-BR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>
            <a:extLst>
              <a:ext uri="{FF2B5EF4-FFF2-40B4-BE49-F238E27FC236}">
                <a16:creationId xmlns:a16="http://schemas.microsoft.com/office/drawing/2014/main" id="{2613D3E0-A486-1015-3A6C-212C198BF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47625"/>
            <a:ext cx="7723188" cy="86360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NOSSOS SERVIÇOS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2DD63C05-7F71-2E13-8AF4-52A37E0F6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096963"/>
            <a:ext cx="8486775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177800" indent="-1778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150000"/>
              </a:spcBef>
            </a:pPr>
            <a:r>
              <a:rPr lang="pt-BR" altLang="pt-BR" sz="2400" b="1">
                <a:solidFill>
                  <a:srgbClr val="003399"/>
                </a:solidFill>
                <a:latin typeface="Garamond" panose="02020404030301010803" pitchFamily="18" charset="0"/>
                <a:ea typeface="Batang" panose="02030600000101010101" pitchFamily="18" charset="-127"/>
              </a:rPr>
              <a:t>Treinamentos: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altLang="pt-BR" sz="2000" b="1">
                <a:solidFill>
                  <a:srgbClr val="002060"/>
                </a:solidFill>
                <a:latin typeface="Garamond" panose="02020404030301010803" pitchFamily="18" charset="0"/>
                <a:ea typeface="Batang" panose="02030600000101010101" pitchFamily="18" charset="-127"/>
              </a:rPr>
              <a:t>Armazenagem e Movimentação de Materiais; 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altLang="pt-BR" sz="2000" b="1">
                <a:solidFill>
                  <a:srgbClr val="002060"/>
                </a:solidFill>
                <a:latin typeface="Garamond" panose="02020404030301010803" pitchFamily="18" charset="0"/>
                <a:ea typeface="Batang" panose="02030600000101010101" pitchFamily="18" charset="-127"/>
              </a:rPr>
              <a:t>Planejamento e Controle de Materiais;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altLang="pt-BR" sz="2000" b="1">
                <a:solidFill>
                  <a:srgbClr val="002060"/>
                </a:solidFill>
                <a:latin typeface="Garamond" panose="02020404030301010803" pitchFamily="18" charset="0"/>
                <a:ea typeface="Batang" panose="02030600000101010101" pitchFamily="18" charset="-127"/>
              </a:rPr>
              <a:t>Planejamento e Controle de Produção;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altLang="pt-BR" sz="2000" b="1">
                <a:solidFill>
                  <a:srgbClr val="002060"/>
                </a:solidFill>
                <a:latin typeface="Garamond" panose="02020404030301010803" pitchFamily="18" charset="0"/>
                <a:ea typeface="Batang" panose="02030600000101010101" pitchFamily="18" charset="-127"/>
              </a:rPr>
              <a:t>Técnicas e Métodos de Inventario de Materiais;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altLang="pt-BR" sz="2000" b="1">
                <a:solidFill>
                  <a:srgbClr val="002060"/>
                </a:solidFill>
                <a:latin typeface="Garamond" panose="02020404030301010803" pitchFamily="18" charset="0"/>
                <a:ea typeface="Batang" panose="02030600000101010101" pitchFamily="18" charset="-127"/>
              </a:rPr>
              <a:t>Gestão de Estoque;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altLang="pt-BR" sz="2000" b="1">
                <a:solidFill>
                  <a:srgbClr val="002060"/>
                </a:solidFill>
                <a:latin typeface="Garamond" panose="02020404030301010803" pitchFamily="18" charset="0"/>
                <a:ea typeface="Batang" panose="02030600000101010101" pitchFamily="18" charset="-127"/>
              </a:rPr>
              <a:t>Gestão de Almoxarifado;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altLang="pt-BR" sz="2000" b="1">
                <a:solidFill>
                  <a:srgbClr val="002060"/>
                </a:solidFill>
                <a:latin typeface="Garamond" panose="02020404030301010803" pitchFamily="18" charset="0"/>
                <a:ea typeface="Batang" panose="02030600000101010101" pitchFamily="18" charset="-127"/>
              </a:rPr>
              <a:t>10s;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altLang="pt-BR" sz="2000" b="1">
                <a:solidFill>
                  <a:srgbClr val="002060"/>
                </a:solidFill>
                <a:latin typeface="Garamond" panose="02020404030301010803" pitchFamily="18" charset="0"/>
                <a:ea typeface="Batang" panose="02030600000101010101" pitchFamily="18" charset="-127"/>
              </a:rPr>
              <a:t>Lean Manufacturing;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altLang="pt-BR" sz="2000" b="1">
                <a:solidFill>
                  <a:srgbClr val="002060"/>
                </a:solidFill>
                <a:latin typeface="Garamond" panose="02020404030301010803" pitchFamily="18" charset="0"/>
                <a:ea typeface="Batang" panose="02030600000101010101" pitchFamily="18" charset="-127"/>
              </a:rPr>
              <a:t>Gestão de Custos Logísticos;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altLang="pt-BR" sz="2000" b="1">
                <a:solidFill>
                  <a:srgbClr val="002060"/>
                </a:solidFill>
                <a:latin typeface="Garamond" panose="02020404030301010803" pitchFamily="18" charset="0"/>
                <a:ea typeface="Batang" panose="02030600000101010101" pitchFamily="18" charset="-127"/>
              </a:rPr>
              <a:t>Gestão de Planejamento e Produtividade para Líderes;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altLang="pt-BR" sz="2000" b="1">
                <a:solidFill>
                  <a:srgbClr val="002060"/>
                </a:solidFill>
                <a:latin typeface="Garamond" panose="02020404030301010803" pitchFamily="18" charset="0"/>
                <a:ea typeface="Batang" panose="02030600000101010101" pitchFamily="18" charset="-127"/>
              </a:rPr>
              <a:t>Formação de Almoxarife;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altLang="pt-BR" sz="2000" b="1">
                <a:solidFill>
                  <a:srgbClr val="002060"/>
                </a:solidFill>
                <a:latin typeface="Garamond" panose="02020404030301010803" pitchFamily="18" charset="0"/>
                <a:ea typeface="Batang" panose="02030600000101010101" pitchFamily="18" charset="-127"/>
              </a:rPr>
              <a:t>Treinamento de Gestão Empresarial;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altLang="pt-BR" sz="2000" b="1">
                <a:solidFill>
                  <a:srgbClr val="002060"/>
                </a:solidFill>
                <a:latin typeface="Garamond" panose="02020404030301010803" pitchFamily="18" charset="0"/>
                <a:ea typeface="Batang" panose="02030600000101010101" pitchFamily="18" charset="-127"/>
              </a:rPr>
              <a:t>Ou de acordo com a necessidade do cliente.</a:t>
            </a:r>
            <a:endParaRPr lang="pt-BR" altLang="pt-BR" sz="2400" b="1">
              <a:solidFill>
                <a:srgbClr val="003399"/>
              </a:solidFill>
              <a:latin typeface="Garamond" panose="02020404030301010803" pitchFamily="18" charset="0"/>
              <a:ea typeface="Batang" panose="02030600000101010101" pitchFamily="18" charset="-127"/>
            </a:endParaRPr>
          </a:p>
        </p:txBody>
      </p:sp>
      <p:sp>
        <p:nvSpPr>
          <p:cNvPr id="22532" name="Rectangle 19">
            <a:extLst>
              <a:ext uri="{FF2B5EF4-FFF2-40B4-BE49-F238E27FC236}">
                <a16:creationId xmlns:a16="http://schemas.microsoft.com/office/drawing/2014/main" id="{4841E676-6D17-55DD-AAD1-CDF4C7BFE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53188"/>
            <a:ext cx="415925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fld id="{2F91C3F9-D6E2-44D7-87D4-3E922334E8ED}" type="slidenum"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pPr algn="ctr" eaLnBrk="1" hangingPunct="1"/>
              <a:t>11</a:t>
            </a:fld>
            <a:endParaRPr lang="pt-BR" altLang="pt-BR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5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>
            <a:extLst>
              <a:ext uri="{FF2B5EF4-FFF2-40B4-BE49-F238E27FC236}">
                <a16:creationId xmlns:a16="http://schemas.microsoft.com/office/drawing/2014/main" id="{77294649-96EB-0336-C2A0-FC193293B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47625"/>
            <a:ext cx="7723187" cy="86360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PORQUE CONTRATAR NOSSOS SERVIÇOS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</a:endParaRPr>
          </a:p>
        </p:txBody>
      </p:sp>
      <p:sp>
        <p:nvSpPr>
          <p:cNvPr id="19461" name="Text Box 4">
            <a:extLst>
              <a:ext uri="{FF2B5EF4-FFF2-40B4-BE49-F238E27FC236}">
                <a16:creationId xmlns:a16="http://schemas.microsoft.com/office/drawing/2014/main" id="{B4FBB3E6-EAB5-A522-AFCC-0FB66D706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" y="944563"/>
            <a:ext cx="8569325" cy="58689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lnSpc>
                <a:spcPts val="2500"/>
              </a:lnSpc>
              <a:defRPr/>
            </a:pPr>
            <a:r>
              <a:rPr lang="pt-BR" altLang="pt-BR" sz="2400" dirty="0">
                <a:solidFill>
                  <a:srgbClr val="003399"/>
                </a:solidFill>
                <a:latin typeface="Garamond" pitchFamily="18" charset="0"/>
                <a:ea typeface="Batang" panose="02030600000101010101" pitchFamily="18" charset="-127"/>
              </a:rPr>
              <a:t>Agregamos valores e benefícios as constantes mudanças do mundo contemporâneo:</a:t>
            </a:r>
          </a:p>
          <a:p>
            <a:pPr algn="just">
              <a:lnSpc>
                <a:spcPts val="2500"/>
              </a:lnSpc>
              <a:defRPr/>
            </a:pPr>
            <a:r>
              <a:rPr lang="pt-BR" altLang="pt-BR" sz="2400" dirty="0">
                <a:solidFill>
                  <a:srgbClr val="003399"/>
                </a:solidFill>
                <a:latin typeface="Garamond" pitchFamily="18" charset="0"/>
                <a:ea typeface="Batang" panose="02030600000101010101" pitchFamily="18" charset="-127"/>
              </a:rPr>
              <a:t>- Respeito rigoroso das normas legais e dos princípios éticos;</a:t>
            </a:r>
          </a:p>
          <a:p>
            <a:pPr algn="just">
              <a:lnSpc>
                <a:spcPts val="2500"/>
              </a:lnSpc>
              <a:defRPr/>
            </a:pPr>
            <a:r>
              <a:rPr lang="pt-BR" altLang="pt-BR" sz="2400" dirty="0">
                <a:solidFill>
                  <a:srgbClr val="003399"/>
                </a:solidFill>
                <a:latin typeface="Garamond" pitchFamily="18" charset="0"/>
                <a:ea typeface="Batang" panose="02030600000101010101" pitchFamily="18" charset="-127"/>
              </a:rPr>
              <a:t>- Busca constante da qualidade dos serviços;</a:t>
            </a:r>
          </a:p>
          <a:p>
            <a:pPr algn="just">
              <a:lnSpc>
                <a:spcPts val="2500"/>
              </a:lnSpc>
              <a:defRPr/>
            </a:pPr>
            <a:r>
              <a:rPr lang="pt-BR" altLang="pt-BR" sz="2400" dirty="0">
                <a:solidFill>
                  <a:srgbClr val="003399"/>
                </a:solidFill>
                <a:latin typeface="Garamond" pitchFamily="18" charset="0"/>
                <a:ea typeface="Batang" panose="02030600000101010101" pitchFamily="18" charset="-127"/>
              </a:rPr>
              <a:t>- Experiência para atendimento nos mais diversos setores da área de logística, administração e conservação e limpeza; </a:t>
            </a:r>
          </a:p>
          <a:p>
            <a:pPr algn="just">
              <a:lnSpc>
                <a:spcPts val="2500"/>
              </a:lnSpc>
              <a:defRPr/>
            </a:pPr>
            <a:r>
              <a:rPr lang="pt-BR" altLang="pt-BR" sz="2400" dirty="0">
                <a:solidFill>
                  <a:srgbClr val="003399"/>
                </a:solidFill>
                <a:latin typeface="Garamond" pitchFamily="18" charset="0"/>
                <a:ea typeface="Batang" panose="02030600000101010101" pitchFamily="18" charset="-127"/>
              </a:rPr>
              <a:t>- Flexibilidade e rapidez no atendimento;</a:t>
            </a:r>
          </a:p>
          <a:p>
            <a:pPr marL="342900" indent="-342900" algn="just">
              <a:lnSpc>
                <a:spcPts val="2500"/>
              </a:lnSpc>
              <a:buFontTx/>
              <a:buChar char="-"/>
              <a:defRPr/>
            </a:pPr>
            <a:r>
              <a:rPr lang="pt-BR" altLang="pt-BR" sz="2400" dirty="0">
                <a:solidFill>
                  <a:srgbClr val="003399"/>
                </a:solidFill>
                <a:latin typeface="Garamond" pitchFamily="18" charset="0"/>
                <a:ea typeface="Batang" panose="02030600000101010101" pitchFamily="18" charset="-127"/>
              </a:rPr>
              <a:t>Soluções personalizadas para cada cliente;</a:t>
            </a:r>
          </a:p>
          <a:p>
            <a:pPr marL="342900" indent="-342900" algn="just">
              <a:lnSpc>
                <a:spcPts val="2500"/>
              </a:lnSpc>
              <a:buFontTx/>
              <a:buChar char="-"/>
              <a:defRPr/>
            </a:pPr>
            <a:r>
              <a:rPr lang="pt-BR" sz="2400" dirty="0">
                <a:solidFill>
                  <a:srgbClr val="003399"/>
                </a:solidFill>
                <a:latin typeface="Garamond" pitchFamily="18" charset="0"/>
                <a:ea typeface="Batang" panose="02030600000101010101" pitchFamily="18" charset="-127"/>
              </a:rPr>
              <a:t>Temos uma cultura de processos sólidos e melhoria contínua;</a:t>
            </a:r>
          </a:p>
          <a:p>
            <a:pPr marL="342900" indent="-342900" algn="just">
              <a:lnSpc>
                <a:spcPts val="2500"/>
              </a:lnSpc>
              <a:buFontTx/>
              <a:buChar char="-"/>
              <a:defRPr/>
            </a:pPr>
            <a:r>
              <a:rPr lang="pt-BR" sz="2400" dirty="0">
                <a:solidFill>
                  <a:srgbClr val="003399"/>
                </a:solidFill>
                <a:latin typeface="Garamond" pitchFamily="18" charset="0"/>
                <a:ea typeface="Batang" panose="02030600000101010101" pitchFamily="18" charset="-127"/>
              </a:rPr>
              <a:t>Estamos sempre em busca de aprimorar nossos serviços e superar expectativas;</a:t>
            </a:r>
            <a:endParaRPr lang="pt-BR" altLang="pt-BR" sz="2400" dirty="0">
              <a:solidFill>
                <a:srgbClr val="003399"/>
              </a:solidFill>
              <a:latin typeface="Garamond" pitchFamily="18" charset="0"/>
              <a:ea typeface="Batang" panose="02030600000101010101" pitchFamily="18" charset="-127"/>
            </a:endParaRPr>
          </a:p>
          <a:p>
            <a:pPr marL="342900" indent="-342900" algn="just">
              <a:lnSpc>
                <a:spcPts val="2500"/>
              </a:lnSpc>
              <a:buFontTx/>
              <a:buChar char="-"/>
              <a:defRPr/>
            </a:pPr>
            <a:r>
              <a:rPr lang="pt-BR" altLang="pt-BR" sz="2400" dirty="0">
                <a:solidFill>
                  <a:srgbClr val="003399"/>
                </a:solidFill>
                <a:latin typeface="Garamond" pitchFamily="18" charset="0"/>
                <a:ea typeface="Batang" panose="02030600000101010101" pitchFamily="18" charset="-127"/>
              </a:rPr>
              <a:t>Parceria constante;</a:t>
            </a:r>
          </a:p>
          <a:p>
            <a:pPr marL="342900" lvl="1" indent="-342900" algn="just">
              <a:lnSpc>
                <a:spcPts val="2500"/>
              </a:lnSpc>
              <a:buFontTx/>
              <a:buChar char="-"/>
              <a:defRPr/>
            </a:pPr>
            <a:r>
              <a:rPr lang="pt-BR" altLang="pt-BR" sz="2400" dirty="0">
                <a:solidFill>
                  <a:srgbClr val="003399"/>
                </a:solidFill>
                <a:latin typeface="Garamond" pitchFamily="18" charset="0"/>
                <a:ea typeface="Batang" panose="02030600000101010101" pitchFamily="18" charset="-127"/>
              </a:rPr>
              <a:t>Terceirização da mão-de-obra seguindo a Legislação Trabalhista (C.L.T) ou seja to</a:t>
            </a:r>
            <a:r>
              <a:rPr lang="en-US" altLang="pt-BR" sz="2400" dirty="0">
                <a:solidFill>
                  <a:srgbClr val="003399"/>
                </a:solidFill>
                <a:latin typeface="Garamond" pitchFamily="18" charset="0"/>
                <a:ea typeface="Batang" panose="02030600000101010101" pitchFamily="18" charset="-127"/>
              </a:rPr>
              <a:t>dos sem vínculo empregatício com nossos clientes, minimizando os custos e encargos da folha de pagamento;</a:t>
            </a:r>
          </a:p>
          <a:p>
            <a:pPr marL="342900" lvl="1" indent="-342900" algn="just">
              <a:lnSpc>
                <a:spcPts val="2500"/>
              </a:lnSpc>
              <a:buFontTx/>
              <a:buChar char="-"/>
              <a:defRPr/>
            </a:pPr>
            <a:r>
              <a:rPr lang="en-US" altLang="pt-BR" sz="2400" dirty="0">
                <a:solidFill>
                  <a:srgbClr val="003399"/>
                </a:solidFill>
                <a:latin typeface="Garamond" pitchFamily="18" charset="0"/>
                <a:ea typeface="Batang" panose="02030600000101010101" pitchFamily="18" charset="-127"/>
              </a:rPr>
              <a:t>Periodicamente são promovidos treinamentos e palestras de atualização profissional, garantindo  o padrão de qualidade na prestação de nossos serviços. </a:t>
            </a:r>
            <a:endParaRPr lang="pt-BR" altLang="pt-BR" sz="2400" dirty="0">
              <a:solidFill>
                <a:srgbClr val="003399"/>
              </a:solidFill>
              <a:latin typeface="Garamond" pitchFamily="18" charset="0"/>
              <a:ea typeface="Batang" panose="02030600000101010101" pitchFamily="18" charset="-127"/>
            </a:endParaRPr>
          </a:p>
        </p:txBody>
      </p:sp>
      <p:sp>
        <p:nvSpPr>
          <p:cNvPr id="24580" name="Rectangle 19">
            <a:extLst>
              <a:ext uri="{FF2B5EF4-FFF2-40B4-BE49-F238E27FC236}">
                <a16:creationId xmlns:a16="http://schemas.microsoft.com/office/drawing/2014/main" id="{D63C7D54-94F7-40CA-1D04-AEC1346CF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30963"/>
            <a:ext cx="415925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fld id="{8354342A-69A7-4DFA-AF45-D3A8B10ABFB3}" type="slidenum"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pPr algn="ctr" eaLnBrk="1" hangingPunct="1"/>
              <a:t>12</a:t>
            </a:fld>
            <a:endParaRPr lang="pt-BR" altLang="pt-BR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Text Box 4">
            <a:extLst>
              <a:ext uri="{FF2B5EF4-FFF2-40B4-BE49-F238E27FC236}">
                <a16:creationId xmlns:a16="http://schemas.microsoft.com/office/drawing/2014/main" id="{72DC6EEA-614E-5799-F346-3E13E4CC1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1270000"/>
            <a:ext cx="4570413" cy="3416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1" eaLnBrk="1" hangingPunct="1">
              <a:spcAft>
                <a:spcPts val="1200"/>
              </a:spcAft>
              <a:buClr>
                <a:srgbClr val="0070C0"/>
              </a:buClr>
              <a:buSzPct val="100000"/>
              <a:defRPr/>
            </a:pPr>
            <a:r>
              <a:rPr lang="pt-BR" sz="2400" dirty="0">
                <a:solidFill>
                  <a:srgbClr val="1F497D"/>
                </a:solidFill>
                <a:latin typeface="Garamond" pitchFamily="18" charset="0"/>
                <a:ea typeface="Batang" pitchFamily="18" charset="-127"/>
              </a:rPr>
              <a:t>Elenco de colaboradores por função:</a:t>
            </a:r>
          </a:p>
          <a:p>
            <a:pPr marL="88900" lvl="1" indent="-88900" algn="just">
              <a:spcBef>
                <a:spcPct val="30000"/>
              </a:spcBef>
              <a:buClr>
                <a:srgbClr val="1F497D"/>
              </a:buClr>
              <a:buSzPct val="100000"/>
              <a:buFont typeface="Wingdings" panose="05000000000000000000" pitchFamily="2" charset="2"/>
              <a:buChar char="v"/>
              <a:tabLst>
                <a:tab pos="88900" algn="l"/>
              </a:tabLst>
              <a:defRPr/>
            </a:pPr>
            <a:r>
              <a:rPr lang="pt-BR" sz="2000" dirty="0">
                <a:solidFill>
                  <a:srgbClr val="1F497D"/>
                </a:solidFill>
                <a:latin typeface="Garamond" pitchFamily="18" charset="0"/>
                <a:ea typeface="Batang" pitchFamily="18" charset="-127"/>
              </a:rPr>
              <a:t>Auxiliar de Apoio Logístico;</a:t>
            </a:r>
          </a:p>
          <a:p>
            <a:pPr marL="88900" lvl="1" indent="-88900" algn="just">
              <a:spcBef>
                <a:spcPct val="30000"/>
              </a:spcBef>
              <a:buClr>
                <a:srgbClr val="1F497D"/>
              </a:buClr>
              <a:buSzPct val="100000"/>
              <a:buFont typeface="Wingdings" panose="05000000000000000000" pitchFamily="2" charset="2"/>
              <a:buChar char="v"/>
              <a:tabLst>
                <a:tab pos="88900" algn="l"/>
              </a:tabLst>
              <a:defRPr/>
            </a:pPr>
            <a:r>
              <a:rPr lang="pt-BR" sz="2000" dirty="0">
                <a:solidFill>
                  <a:srgbClr val="1F497D"/>
                </a:solidFill>
                <a:latin typeface="Garamond" pitchFamily="18" charset="0"/>
                <a:ea typeface="Batang" pitchFamily="18" charset="-127"/>
              </a:rPr>
              <a:t>Auxiliar de Serviços Gerais;</a:t>
            </a:r>
          </a:p>
          <a:p>
            <a:pPr marL="88900" lvl="1" indent="-88900" algn="just">
              <a:spcBef>
                <a:spcPct val="30000"/>
              </a:spcBef>
              <a:buClr>
                <a:srgbClr val="1F497D"/>
              </a:buClr>
              <a:buSzPct val="100000"/>
              <a:buFont typeface="Wingdings" panose="05000000000000000000" pitchFamily="2" charset="2"/>
              <a:buChar char="v"/>
              <a:tabLst>
                <a:tab pos="88900" algn="l"/>
              </a:tabLst>
              <a:defRPr/>
            </a:pPr>
            <a:r>
              <a:rPr lang="pt-BR" sz="2000" dirty="0">
                <a:solidFill>
                  <a:srgbClr val="1F497D"/>
                </a:solidFill>
                <a:latin typeface="Garamond" pitchFamily="18" charset="0"/>
                <a:ea typeface="Batang" pitchFamily="18" charset="-127"/>
              </a:rPr>
              <a:t>Conferente de Materiais;</a:t>
            </a:r>
          </a:p>
          <a:p>
            <a:pPr marL="88900" lvl="1" indent="-88900" algn="just">
              <a:spcBef>
                <a:spcPct val="30000"/>
              </a:spcBef>
              <a:buClr>
                <a:srgbClr val="1F497D"/>
              </a:buClr>
              <a:buSzPct val="100000"/>
              <a:buFont typeface="Wingdings" panose="05000000000000000000" pitchFamily="2" charset="2"/>
              <a:buChar char="v"/>
              <a:tabLst>
                <a:tab pos="88900" algn="l"/>
              </a:tabLst>
              <a:defRPr/>
            </a:pPr>
            <a:r>
              <a:rPr lang="pt-BR" sz="2000" dirty="0">
                <a:solidFill>
                  <a:srgbClr val="1F497D"/>
                </a:solidFill>
                <a:latin typeface="Garamond" pitchFamily="18" charset="0"/>
                <a:ea typeface="Batang" pitchFamily="18" charset="-127"/>
              </a:rPr>
              <a:t>Almoxarife;</a:t>
            </a:r>
          </a:p>
          <a:p>
            <a:pPr marL="88900" lvl="1" indent="-88900" algn="just">
              <a:spcBef>
                <a:spcPct val="30000"/>
              </a:spcBef>
              <a:buClr>
                <a:srgbClr val="1F497D"/>
              </a:buClr>
              <a:buSzPct val="100000"/>
              <a:buFont typeface="Wingdings" panose="05000000000000000000" pitchFamily="2" charset="2"/>
              <a:buChar char="v"/>
              <a:tabLst>
                <a:tab pos="88900" algn="l"/>
              </a:tabLst>
              <a:defRPr/>
            </a:pPr>
            <a:r>
              <a:rPr lang="pt-BR" sz="2000" dirty="0">
                <a:solidFill>
                  <a:srgbClr val="1F497D"/>
                </a:solidFill>
                <a:latin typeface="Garamond" pitchFamily="18" charset="0"/>
                <a:ea typeface="Batang" pitchFamily="18" charset="-127"/>
              </a:rPr>
              <a:t>Instrutor de Treinamento;</a:t>
            </a:r>
          </a:p>
          <a:p>
            <a:pPr marL="88900" lvl="1" indent="-88900" algn="just">
              <a:spcBef>
                <a:spcPct val="30000"/>
              </a:spcBef>
              <a:buClr>
                <a:srgbClr val="1F497D"/>
              </a:buClr>
              <a:buSzPct val="100000"/>
              <a:buFont typeface="Wingdings" panose="05000000000000000000" pitchFamily="2" charset="2"/>
              <a:buChar char="v"/>
              <a:tabLst>
                <a:tab pos="88900" algn="l"/>
              </a:tabLst>
              <a:defRPr/>
            </a:pPr>
            <a:r>
              <a:rPr lang="pt-BR" sz="2000" dirty="0">
                <a:solidFill>
                  <a:srgbClr val="1F497D"/>
                </a:solidFill>
                <a:latin typeface="Garamond" pitchFamily="18" charset="0"/>
                <a:ea typeface="Batang" pitchFamily="18" charset="-127"/>
              </a:rPr>
              <a:t>Líder de Logística;</a:t>
            </a:r>
          </a:p>
          <a:p>
            <a:pPr marL="88900" lvl="1" indent="-88900" algn="just">
              <a:spcBef>
                <a:spcPct val="30000"/>
              </a:spcBef>
              <a:buClr>
                <a:srgbClr val="1F497D"/>
              </a:buClr>
              <a:buSzPct val="100000"/>
              <a:buFont typeface="Wingdings" panose="05000000000000000000" pitchFamily="2" charset="2"/>
              <a:buChar char="v"/>
              <a:tabLst>
                <a:tab pos="88900" algn="l"/>
              </a:tabLst>
              <a:defRPr/>
            </a:pPr>
            <a:r>
              <a:rPr lang="pt-BR" sz="2000" dirty="0">
                <a:solidFill>
                  <a:srgbClr val="1F497D"/>
                </a:solidFill>
                <a:latin typeface="Garamond" pitchFamily="18" charset="0"/>
                <a:ea typeface="Batang" pitchFamily="18" charset="-127"/>
              </a:rPr>
              <a:t>Etc.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E5DD02D7-B77A-C7E0-9171-640D55517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47625"/>
            <a:ext cx="7723187" cy="86360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MÃO DE OBRA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9B320A40-32BD-7B80-094D-1CD9F0142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284288"/>
            <a:ext cx="4686300" cy="4524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algn="just" eaLnBrk="1" hangingPunct="1">
              <a:defRPr/>
            </a:pPr>
            <a:r>
              <a:rPr lang="pt-BR" sz="24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Todos os colaboradores utilizam equipamentos de proteção e fardamento padronizado tais como:</a:t>
            </a:r>
          </a:p>
          <a:p>
            <a:pPr marL="914400" lvl="1" indent="-457200" algn="just" eaLnBrk="1" hangingPunct="1">
              <a:buFont typeface="Wingdings" panose="05000000000000000000" pitchFamily="2" charset="2"/>
              <a:buChar char="v"/>
              <a:defRPr/>
            </a:pPr>
            <a:r>
              <a:rPr lang="pt-BR" sz="24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Fardamento (Camisa e Calça caracterizada);</a:t>
            </a:r>
          </a:p>
          <a:p>
            <a:pPr marL="914400" lvl="1" indent="-457200" algn="just" eaLnBrk="1" hangingPunct="1">
              <a:buFont typeface="Wingdings" panose="05000000000000000000" pitchFamily="2" charset="2"/>
              <a:buChar char="v"/>
              <a:defRPr/>
            </a:pPr>
            <a:r>
              <a:rPr lang="pt-BR" sz="24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Bota sem biqueira de aço</a:t>
            </a:r>
          </a:p>
          <a:p>
            <a:pPr marL="914400" lvl="1" indent="-457200" algn="just" eaLnBrk="1" hangingPunct="1">
              <a:buFont typeface="Wingdings" panose="05000000000000000000" pitchFamily="2" charset="2"/>
              <a:buChar char="v"/>
              <a:defRPr/>
            </a:pPr>
            <a:r>
              <a:rPr lang="pt-BR" sz="2400" dirty="0">
                <a:solidFill>
                  <a:srgbClr val="002060"/>
                </a:solidFill>
                <a:latin typeface="Garamond" pitchFamily="18" charset="0"/>
                <a:ea typeface="Batang" pitchFamily="18" charset="-127"/>
              </a:rPr>
              <a:t>Entre outros que fizerem necessários conforme características dos produtos e procedimento interno do cliente.</a:t>
            </a:r>
          </a:p>
        </p:txBody>
      </p:sp>
      <p:sp>
        <p:nvSpPr>
          <p:cNvPr id="26629" name="Rectangle 19">
            <a:extLst>
              <a:ext uri="{FF2B5EF4-FFF2-40B4-BE49-F238E27FC236}">
                <a16:creationId xmlns:a16="http://schemas.microsoft.com/office/drawing/2014/main" id="{B040F8E6-95C6-DF16-DDFB-807CB7A0B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30963"/>
            <a:ext cx="415925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91AB5713-11D8-402A-98F7-DADB5A5D5C02}" type="slidenum"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pPr algn="r" eaLnBrk="1" hangingPunct="1"/>
              <a:t>13</a:t>
            </a:fld>
            <a:endParaRPr lang="pt-BR" altLang="pt-BR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>
            <a:extLst>
              <a:ext uri="{FF2B5EF4-FFF2-40B4-BE49-F238E27FC236}">
                <a16:creationId xmlns:a16="http://schemas.microsoft.com/office/drawing/2014/main" id="{6ADFF6A3-086F-B272-D50A-106856BEA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47625"/>
            <a:ext cx="7580313" cy="86360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b="1" dirty="0">
                <a:solidFill>
                  <a:prstClr val="white">
                    <a:lumMod val="95000"/>
                  </a:prstClr>
                </a:solidFill>
                <a:latin typeface="Calibri" panose="020F0502020204030204" pitchFamily="34" charset="0"/>
              </a:rPr>
              <a:t>CLIENTES REFERENCIAIS</a:t>
            </a:r>
            <a:endParaRPr lang="en-US" sz="3200" b="1" dirty="0">
              <a:solidFill>
                <a:prstClr val="white">
                  <a:lumMod val="95000"/>
                </a:prst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</p:txBody>
      </p:sp>
      <p:sp>
        <p:nvSpPr>
          <p:cNvPr id="28675" name="Retângulo 1">
            <a:extLst>
              <a:ext uri="{FF2B5EF4-FFF2-40B4-BE49-F238E27FC236}">
                <a16:creationId xmlns:a16="http://schemas.microsoft.com/office/drawing/2014/main" id="{20D680ED-CF7C-DF25-FBCE-7A622904F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125538"/>
            <a:ext cx="92170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355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355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55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55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55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55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55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55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55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Calibri" panose="020F0502020204030204" pitchFamily="34" charset="0"/>
              <a:buAutoNum type="arabicPeriod"/>
            </a:pPr>
            <a:endParaRPr lang="pt-BR" altLang="pt-BR" sz="1000"/>
          </a:p>
        </p:txBody>
      </p:sp>
      <p:sp>
        <p:nvSpPr>
          <p:cNvPr id="28676" name="Retângulo 1">
            <a:extLst>
              <a:ext uri="{FF2B5EF4-FFF2-40B4-BE49-F238E27FC236}">
                <a16:creationId xmlns:a16="http://schemas.microsoft.com/office/drawing/2014/main" id="{250E09A0-2FE7-6E33-75DB-63AF0B5DC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213" y="996950"/>
            <a:ext cx="7632700" cy="581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CAA COMERCIO E INDUSTRIA AMAZONENSE DE ALUMINIO 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DAIKIN AR CONDICIONADO AMAZONAS LTDA 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DUAS RODAS NORDESTE INDÚSTRIA DE ALIMENTOS 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ELGIN INDUSTRIAL DA AMAZONIA 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FEDERAÇÃO DAS INDÚSTRIAS DO ESTADO DO AMAZONAS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FEDEX BRASIL LOGISTICA E TRANSPORTE 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FUJIFILM DO BRASIL 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GABLOG TRANSPORTES E LOGISTICA EIRELI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GRUPO CASAS BAHIA S.A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INDUSTRIA AMAZONENSE DE ALUMINIO 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MERCANTIL NOVA ERA – NOVA ERA SUPERFRIOS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MERCANTIL NOVA ERA LTDA – CD VAREJO DISTRIBUIÇÃO AM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MERCOSUL LINE NAVEGAÇÃO E LOGISTICA 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MK ELETRODOMESTICOS MONDIAL S/A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NATUREZA COMERCIO DE DESCARTAVEIS LTDA (COMERCIAL QUEIROZ)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PEMAZA DISTIBUIDORA S.A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PMI SOUTH AMERICAINDUSTRIA DE PLASTICOLTDA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PROLOGAM PROVEDOR LOGÍSTICO 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RODRIGUES INDUSTRIA E COMERCIO DE COLCHOES 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SEMP TCL INDUSTRIA E COMERCIO DE CONDICIONADORES DE AR S.A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SEMP TCL INDÚSTRIA E COMERCIO DE ELETROELETRONICOS S.A 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SOCIEDADE MICHELIN DE PARTICIPACOES INDUST E COMERCIO 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SUPER TRANS TRANSPORTES LOGÍSTICA E SERVIÇOS 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SUPERSONIC LOGISTICA E TRANSPORTES 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TAMBAU INDÚSTRIA ALIMENTICIA 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TECHFRIO &amp; MOBILI IMPORTACAO E COMERCIO 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TODOBRASIL TRANSPORTES 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TRAGETTA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TRANSPORTES BERTOLINI LTDA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VENTTOS IND E COM DE COMPONENTES ELETRONICOS LTDA-ME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pt-BR" altLang="pt-BR" sz="1200">
                <a:latin typeface="Garamond" panose="02020404030301010803" pitchFamily="18" charset="0"/>
                <a:ea typeface="Batang" panose="02030600000101010101" pitchFamily="18" charset="-127"/>
              </a:rPr>
              <a:t>VG IMPORTACAO LTDA</a:t>
            </a:r>
          </a:p>
        </p:txBody>
      </p:sp>
      <p:sp>
        <p:nvSpPr>
          <p:cNvPr id="28677" name="Rectangle 19">
            <a:extLst>
              <a:ext uri="{FF2B5EF4-FFF2-40B4-BE49-F238E27FC236}">
                <a16:creationId xmlns:a16="http://schemas.microsoft.com/office/drawing/2014/main" id="{7F37FB96-622C-B612-1BE7-1D5E53E49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30963"/>
            <a:ext cx="415925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A38B4822-F71F-45A5-BB66-6ED0A014BA81}" type="slidenum"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pPr algn="r" eaLnBrk="1" hangingPunct="1"/>
              <a:t>14</a:t>
            </a:fld>
            <a:endParaRPr lang="pt-BR" altLang="pt-BR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8">
            <a:extLst>
              <a:ext uri="{FF2B5EF4-FFF2-40B4-BE49-F238E27FC236}">
                <a16:creationId xmlns:a16="http://schemas.microsoft.com/office/drawing/2014/main" id="{3EE8A5B3-F933-636E-D85A-234700778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063" y="47625"/>
            <a:ext cx="7723187" cy="86360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REFERÊNCIAS COMERCIAL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709EDE04-6DF2-25F3-17D8-504F32873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1123950"/>
            <a:ext cx="871220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Monotype Sorts"/>
              <a:buNone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Empresa: TCL SEMP INDÚSTRIA E COMERCIO DE ELETROELETRONICOS S.A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Monotype Sorts"/>
              <a:buNone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Contato: equipe comercial ST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Monotype Sorts"/>
              <a:buNone/>
            </a:pPr>
            <a:r>
              <a:rPr lang="en-US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Cargo: </a:t>
            </a: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Chefe de Logística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Monotype Sorts"/>
              <a:buNone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Telefone ST: (92) 99267-8067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Monotype Sorts"/>
              <a:buNone/>
            </a:pPr>
            <a:endParaRPr lang="pt-BR" altLang="pt-BR" sz="1200" b="1">
              <a:solidFill>
                <a:schemeClr val="tx2"/>
              </a:solidFill>
              <a:latin typeface="Garamond" panose="02020404030301010803" pitchFamily="18" charset="0"/>
              <a:ea typeface="Batang" panose="02030600000101010101" pitchFamily="18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Empresa: MK ELETRODOMESTICOS MONDIAL S/A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Contato: equipe comercial ST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en-US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Cargo: </a:t>
            </a: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Coordenador de Logística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Telefone ST: (92) 99267-8067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Monotype Sorts"/>
              <a:buNone/>
            </a:pPr>
            <a:endParaRPr lang="pt-BR" altLang="pt-BR" sz="1200" b="1">
              <a:solidFill>
                <a:schemeClr val="tx2"/>
              </a:solidFill>
              <a:latin typeface="Garamond" panose="02020404030301010803" pitchFamily="18" charset="0"/>
              <a:ea typeface="Batang" panose="02030600000101010101" pitchFamily="18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Empresa: SOCIEDADE MICHELIN DE PARTICIPACOES INDUST E COMERCIO LTDA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Contato: equipe comercial ST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en-US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Cargo: </a:t>
            </a: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Gerente de Logística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Telefone ST: (92) 99267-8067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endParaRPr lang="pt-BR" altLang="pt-BR" sz="1200" b="1">
              <a:solidFill>
                <a:schemeClr val="tx2"/>
              </a:solidFill>
              <a:latin typeface="Garamond" panose="02020404030301010803" pitchFamily="18" charset="0"/>
              <a:ea typeface="Batang" panose="02030600000101010101" pitchFamily="18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Monotype Sorts"/>
              <a:buNone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Empresa: FIEAM – Federação das Industria do Estado do Amazonas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Monotype Sorts"/>
              <a:buNone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Contato: equipe comercial ST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Monotype Sorts"/>
              <a:buNone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Cargo: Coordenadora de Treinamentos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Monotype Sorts"/>
              <a:buNone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Telefone ST: (92) 99267-8067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Monotype Sorts"/>
              <a:buNone/>
            </a:pPr>
            <a:endParaRPr lang="pt-BR" altLang="pt-BR" sz="1200" b="1">
              <a:solidFill>
                <a:schemeClr val="tx2"/>
              </a:solidFill>
              <a:latin typeface="Garamond" panose="02020404030301010803" pitchFamily="18" charset="0"/>
              <a:ea typeface="Batang" panose="02030600000101010101" pitchFamily="18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Empresa: FIEAM – Federação das Industria do Estado do Amazonas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Contato: equipe comercial ST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Cargo: Coordenadora de Projetos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Telefone ST: (92) 99267-8067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endParaRPr lang="pt-BR" altLang="pt-BR" sz="1200" b="1">
              <a:solidFill>
                <a:schemeClr val="tx2"/>
              </a:solidFill>
              <a:latin typeface="Garamond" panose="02020404030301010803" pitchFamily="18" charset="0"/>
              <a:ea typeface="Batang" panose="02030600000101010101" pitchFamily="18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Empresa: DAIKIN AR CONDICIONADO AMAZONAS LTDA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Contato: equipe comercial ST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Cargo: Chefe de Logística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pt-BR" altLang="pt-BR" sz="1200" b="1">
                <a:solidFill>
                  <a:schemeClr val="tx2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Telefone ST: (92) 99267-8067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endParaRPr lang="pt-BR" altLang="pt-BR" sz="1200">
              <a:solidFill>
                <a:schemeClr val="tx2"/>
              </a:solidFill>
              <a:latin typeface="Garamond" panose="02020404030301010803" pitchFamily="18" charset="0"/>
              <a:ea typeface="Batang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30724" name="Rectangle 19">
            <a:extLst>
              <a:ext uri="{FF2B5EF4-FFF2-40B4-BE49-F238E27FC236}">
                <a16:creationId xmlns:a16="http://schemas.microsoft.com/office/drawing/2014/main" id="{3F0870A8-0B76-A7FA-2E9C-1572AC15C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30963"/>
            <a:ext cx="415925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fld id="{AB31205F-C25F-49F0-83D5-CE5F4C43D87C}" type="slidenum"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pPr algn="ctr" eaLnBrk="1" hangingPunct="1"/>
              <a:t>15</a:t>
            </a:fld>
            <a:endParaRPr lang="pt-BR" altLang="pt-BR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9">
            <a:extLst>
              <a:ext uri="{FF2B5EF4-FFF2-40B4-BE49-F238E27FC236}">
                <a16:creationId xmlns:a16="http://schemas.microsoft.com/office/drawing/2014/main" id="{5C7CD36C-4ABB-82EF-7CDD-F72F63D0F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875" y="6381750"/>
            <a:ext cx="431800" cy="38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8BA438C0-41EC-44B7-B80C-7D94ECFF3FF9}" type="slidenum"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pPr algn="r" eaLnBrk="1" hangingPunct="1"/>
              <a:t>16</a:t>
            </a:fld>
            <a:endParaRPr lang="pt-BR" altLang="pt-BR" b="1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2771" name="CaixaDeTexto 9">
            <a:extLst>
              <a:ext uri="{FF2B5EF4-FFF2-40B4-BE49-F238E27FC236}">
                <a16:creationId xmlns:a16="http://schemas.microsoft.com/office/drawing/2014/main" id="{47AE9D5E-C264-EBDA-31BB-9E7BA8964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3065463"/>
            <a:ext cx="8640762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Font typeface="Monotype Sorts"/>
              <a:buNone/>
            </a:pPr>
            <a:r>
              <a:rPr lang="en-US" altLang="pt-BR" sz="2400">
                <a:solidFill>
                  <a:srgbClr val="003399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Endereço: Rua Horizontina Quadra Nº 62 Nº 18 – CJ Osvaldo Frota I</a:t>
            </a:r>
            <a:endParaRPr lang="pt-BR" altLang="pt-BR" sz="2400">
              <a:solidFill>
                <a:srgbClr val="003399"/>
              </a:solidFill>
              <a:latin typeface="Garamond" panose="02020404030301010803" pitchFamily="18" charset="0"/>
              <a:ea typeface="Batang" panose="02030600000101010101" pitchFamily="18" charset="-127"/>
              <a:cs typeface="Arial" panose="020B0604020202020204" pitchFamily="34" charset="0"/>
            </a:endParaRPr>
          </a:p>
          <a:p>
            <a:pPr algn="just">
              <a:buFont typeface="Monotype Sorts"/>
              <a:buNone/>
            </a:pPr>
            <a:r>
              <a:rPr lang="en-US" altLang="pt-BR" sz="2400">
                <a:solidFill>
                  <a:srgbClr val="003399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Bairro: Cidade Nova - Cidade: Manaus - AM    CEP 69095-</a:t>
            </a:r>
            <a:r>
              <a:rPr lang="pt-BR" altLang="pt-BR" sz="2400">
                <a:solidFill>
                  <a:srgbClr val="003399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508</a:t>
            </a:r>
          </a:p>
          <a:p>
            <a:pPr algn="ctr">
              <a:buFont typeface="Monotype Sorts"/>
              <a:buNone/>
            </a:pPr>
            <a:endParaRPr lang="pt-BR" altLang="pt-BR" sz="2400">
              <a:solidFill>
                <a:srgbClr val="003399"/>
              </a:solidFill>
              <a:latin typeface="Arial" panose="020B0604020202020204" pitchFamily="34" charset="0"/>
              <a:ea typeface="Batang" panose="02030600000101010101" pitchFamily="18" charset="-127"/>
              <a:cs typeface="Arial" panose="020B0604020202020204" pitchFamily="34" charset="0"/>
            </a:endParaRPr>
          </a:p>
          <a:p>
            <a:pPr algn="ctr">
              <a:buFont typeface="Monotype Sorts"/>
              <a:buNone/>
            </a:pPr>
            <a:r>
              <a:rPr lang="en-US" altLang="pt-BR" sz="2400">
                <a:solidFill>
                  <a:srgbClr val="003399"/>
                </a:solidFill>
                <a:latin typeface="Arial" panose="020B060402020202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  </a:t>
            </a:r>
            <a:r>
              <a:rPr lang="en-US" altLang="pt-BR" sz="2400">
                <a:solidFill>
                  <a:srgbClr val="003399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92 99267 8067</a:t>
            </a:r>
          </a:p>
          <a:p>
            <a:pPr algn="ctr">
              <a:buFont typeface="Monotype Sorts"/>
              <a:buNone/>
            </a:pPr>
            <a:r>
              <a:rPr lang="en-US" altLang="pt-BR" sz="2400">
                <a:solidFill>
                  <a:srgbClr val="003399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  92 98400 0289</a:t>
            </a:r>
          </a:p>
          <a:p>
            <a:pPr algn="ctr">
              <a:buFont typeface="Monotype Sorts"/>
              <a:buNone/>
            </a:pPr>
            <a:r>
              <a:rPr lang="fr-FR" altLang="pt-BR" sz="2400">
                <a:solidFill>
                  <a:srgbClr val="003399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sosthenes.torres@gmail.com</a:t>
            </a:r>
            <a:r>
              <a:rPr lang="fr-FR" altLang="pt-BR" sz="2400">
                <a:solidFill>
                  <a:srgbClr val="003399"/>
                </a:solidFill>
                <a:latin typeface="Arial" panose="020B060402020202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2772" name="Retângulo 8">
            <a:extLst>
              <a:ext uri="{FF2B5EF4-FFF2-40B4-BE49-F238E27FC236}">
                <a16:creationId xmlns:a16="http://schemas.microsoft.com/office/drawing/2014/main" id="{02CDEB8F-4910-853D-52BB-3FFE6B7E2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" y="1341438"/>
            <a:ext cx="86407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/>
            <a:r>
              <a:rPr lang="pt-BR" altLang="pt-BR" sz="2400">
                <a:solidFill>
                  <a:srgbClr val="003399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Entre</a:t>
            </a:r>
            <a:r>
              <a:rPr lang="pt-BR" altLang="pt-BR" sz="2400"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 </a:t>
            </a:r>
            <a:r>
              <a:rPr lang="pt-BR" altLang="pt-BR" sz="2400">
                <a:solidFill>
                  <a:srgbClr val="003399"/>
                </a:solidFill>
                <a:latin typeface="Garamond" panose="02020404030301010803" pitchFamily="18" charset="0"/>
                <a:ea typeface="Batang" panose="02030600000101010101" pitchFamily="18" charset="-127"/>
                <a:cs typeface="Arial" panose="020B0604020202020204" pitchFamily="34" charset="0"/>
              </a:rPr>
              <a:t>em Contato Conosco Agora e descubra como nossos serviços podem impulsionar o crescimento do seu negócio e simplificar sua logística e sua área de conservação e limpeza.</a:t>
            </a:r>
          </a:p>
        </p:txBody>
      </p:sp>
      <p:pic>
        <p:nvPicPr>
          <p:cNvPr id="32773" name="Imagem 6" descr="mail da logistiké">
            <a:hlinkClick r:id="rId3"/>
            <a:extLst>
              <a:ext uri="{FF2B5EF4-FFF2-40B4-BE49-F238E27FC236}">
                <a16:creationId xmlns:a16="http://schemas.microsoft.com/office/drawing/2014/main" id="{CFB130DB-1154-DBB5-FF37-AA301FD97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25" y="5049838"/>
            <a:ext cx="3238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Imagem 8" descr="logo da whatsappblanco">
            <a:hlinkClick r:id="rId5"/>
            <a:extLst>
              <a:ext uri="{FF2B5EF4-FFF2-40B4-BE49-F238E27FC236}">
                <a16:creationId xmlns:a16="http://schemas.microsoft.com/office/drawing/2014/main" id="{025A6529-FC2B-814F-00EC-02779343E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3" y="4570413"/>
            <a:ext cx="3429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AutoShape 8">
            <a:extLst>
              <a:ext uri="{FF2B5EF4-FFF2-40B4-BE49-F238E27FC236}">
                <a16:creationId xmlns:a16="http://schemas.microsoft.com/office/drawing/2014/main" id="{E5619A8D-85EE-84A7-85A3-731302ADA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063" y="47625"/>
            <a:ext cx="7723187" cy="863600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</a:rPr>
              <a:t>CONTATO</a:t>
            </a:r>
          </a:p>
        </p:txBody>
      </p:sp>
      <p:pic>
        <p:nvPicPr>
          <p:cNvPr id="32776" name="Picture 2">
            <a:extLst>
              <a:ext uri="{FF2B5EF4-FFF2-40B4-BE49-F238E27FC236}">
                <a16:creationId xmlns:a16="http://schemas.microsoft.com/office/drawing/2014/main" id="{E4EC8D38-D895-ADDF-DFA5-F0C022351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088" y="4195763"/>
            <a:ext cx="36195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5949</TotalTime>
  <Words>2032</Words>
  <Application>Microsoft Office PowerPoint</Application>
  <PresentationFormat>Papel A4 (210 x 297 mm)</PresentationFormat>
  <Paragraphs>230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4" baseType="lpstr">
      <vt:lpstr>Tahoma</vt:lpstr>
      <vt:lpstr>Arial</vt:lpstr>
      <vt:lpstr>Calibri</vt:lpstr>
      <vt:lpstr>Garamond</vt:lpstr>
      <vt:lpstr>Batang</vt:lpstr>
      <vt:lpstr>Wingdings</vt:lpstr>
      <vt:lpstr>Monotype Sorts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SEDA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sem título</dc:title>
  <dc:creator>Rui Procópio</dc:creator>
  <cp:lastModifiedBy>User</cp:lastModifiedBy>
  <cp:revision>681</cp:revision>
  <cp:lastPrinted>2022-09-01T20:42:05Z</cp:lastPrinted>
  <dcterms:created xsi:type="dcterms:W3CDTF">2003-03-20T11:26:24Z</dcterms:created>
  <dcterms:modified xsi:type="dcterms:W3CDTF">2026-06-09T01:27:38Z</dcterms:modified>
</cp:coreProperties>
</file>